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7" r:id="rId12"/>
    <p:sldId id="268" r:id="rId13"/>
    <p:sldId id="269" r:id="rId14"/>
    <p:sldId id="270" r:id="rId15"/>
    <p:sldId id="271" r:id="rId16"/>
    <p:sldId id="265" r:id="rId17"/>
    <p:sldId id="272" r:id="rId18"/>
  </p:sldIdLst>
  <p:sldSz cx="12192000" cy="6858000"/>
  <p:notesSz cx="6858000" cy="12192000"/>
  <p:embeddedFontLst>
    <p:embeddedFont>
      <p:font typeface="Archivo Black" panose="020B0604020202020204" charset="0"/>
      <p:regular r:id="rId20"/>
    </p:embeddedFont>
    <p:embeddedFont>
      <p:font typeface="Archivo Bold" panose="020B0604020202020204" charset="0"/>
      <p:regular r:id="rId21"/>
    </p:embeddedFont>
    <p:embeddedFont>
      <p:font typeface="Comic Sans MS" panose="030F0702030302020204" pitchFamily="66" charset="0"/>
      <p:regular r:id="rId22"/>
      <p:bold r:id="rId23"/>
      <p:italic r:id="rId24"/>
      <p:boldItalic r:id="rId25"/>
    </p:embeddedFont>
    <p:embeddedFont>
      <p:font typeface="IBM Plex Sans" panose="020B0503050203000203" pitchFamily="34" charset="0"/>
      <p:regular r:id="rId26"/>
      <p:bold r:id="rId27"/>
      <p:italic r:id="rId28"/>
      <p:boldItalic r:id="rId29"/>
    </p:embeddedFont>
    <p:embeddedFont>
      <p:font typeface="IBM Plex Sans Bold" panose="020B0803050203000203" charset="0"/>
      <p:regular r:id="rId30"/>
    </p:embeddedFont>
    <p:embeddedFont>
      <p:font typeface="IBM Plex Sans SemiBold" panose="020B0703050203000203" pitchFamily="34" charset="0"/>
      <p:regular r:id="rId31"/>
      <p:bold r:id="rId32"/>
      <p:boldItalic r:id="rId33"/>
    </p:embeddedFont>
    <p:embeddedFont>
      <p:font typeface="Segoe UI Black" panose="020B0A02040204020203" pitchFamily="34" charset="0"/>
      <p:bold r:id="rId34"/>
      <p:boldItalic r:id="rId3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9" Type="http://schemas.openxmlformats.org/officeDocument/2006/relationships/tableStyles" Target="tableStyles.xml"/><Relationship Id="rId21" Type="http://schemas.openxmlformats.org/officeDocument/2006/relationships/font" Target="fonts/font2.fntdata"/><Relationship Id="rId34" Type="http://schemas.openxmlformats.org/officeDocument/2006/relationships/font" Target="fonts/font1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33" Type="http://schemas.openxmlformats.org/officeDocument/2006/relationships/font" Target="fonts/font14.fntdata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32" Type="http://schemas.openxmlformats.org/officeDocument/2006/relationships/font" Target="fonts/font13.fntdata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font" Target="fonts/font9.fntdata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font" Target="fonts/font1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font" Target="fonts/font11.fntdata"/><Relationship Id="rId35" Type="http://schemas.openxmlformats.org/officeDocument/2006/relationships/font" Target="fonts/font16.fnt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040789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7ECF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355591" y="457200"/>
            <a:ext cx="1876279" cy="277217"/>
          </a:xfrm>
          <a:prstGeom prst="roundRect">
            <a:avLst>
              <a:gd name="adj" fmla="val 4123"/>
            </a:avLst>
          </a:prstGeom>
          <a:solidFill>
            <a:srgbClr val="D4E3F7"/>
          </a:solidFill>
          <a:ln/>
        </p:spPr>
      </p:sp>
      <p:sp>
        <p:nvSpPr>
          <p:cNvPr id="4" name="Text 2"/>
          <p:cNvSpPr/>
          <p:nvPr/>
        </p:nvSpPr>
        <p:spPr>
          <a:xfrm>
            <a:off x="462249" y="510480"/>
            <a:ext cx="2272549" cy="170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kern="0" spc="67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ARCHITECTURE BRIEF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55591" y="5323880"/>
            <a:ext cx="2489138" cy="1971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150" kern="0" spc="11" dirty="0">
                <a:solidFill>
                  <a:srgbClr val="FFFFFF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CIVIC INTELLIGENCE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355591" y="5857577"/>
            <a:ext cx="2184345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NagrikLens AI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55591" y="6254452"/>
            <a:ext cx="2489138" cy="1971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150" kern="0" spc="11" dirty="0">
                <a:solidFill>
                  <a:srgbClr val="FFFFFF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Evidence Core v1.0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301917" y="482600"/>
            <a:ext cx="8889778" cy="1599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kern="0" spc="63" dirty="0">
                <a:solidFill>
                  <a:srgbClr val="155EEF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EVIDENCE-DRIVEN CIVIC INTELLIGENCE PLATFORM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301917" y="721916"/>
            <a:ext cx="8381790" cy="1882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79000"/>
              </a:lnSpc>
              <a:buNone/>
            </a:pPr>
            <a:r>
              <a:rPr lang="en-US" sz="5200" kern="0" spc="-130" dirty="0">
                <a:solidFill>
                  <a:srgbClr val="0B1F3A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From Citizen Problems to Evidence-Backed Civic Insights</a:t>
            </a:r>
            <a:endParaRPr lang="en-US" sz="5200" dirty="0"/>
          </a:p>
        </p:txBody>
      </p:sp>
      <p:sp>
        <p:nvSpPr>
          <p:cNvPr id="10" name="Shape 8"/>
          <p:cNvSpPr/>
          <p:nvPr/>
        </p:nvSpPr>
        <p:spPr>
          <a:xfrm>
            <a:off x="3301917" y="2845296"/>
            <a:ext cx="2765951" cy="38100"/>
          </a:xfrm>
          <a:prstGeom prst="roundRect">
            <a:avLst>
              <a:gd name="adj" fmla="val 49999"/>
            </a:avLst>
          </a:prstGeom>
          <a:solidFill>
            <a:srgbClr val="155EEF"/>
          </a:solidFill>
          <a:ln/>
        </p:spPr>
      </p:sp>
      <p:sp>
        <p:nvSpPr>
          <p:cNvPr id="11" name="Text 9"/>
          <p:cNvSpPr/>
          <p:nvPr/>
        </p:nvSpPr>
        <p:spPr>
          <a:xfrm>
            <a:off x="3301917" y="3105646"/>
            <a:ext cx="8889778" cy="2524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400" dirty="0">
                <a:solidFill>
                  <a:srgbClr val="0B1F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verifiable reasoning bridge between unstructured community grievances and open public datasets.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301917" y="3779044"/>
            <a:ext cx="1396965" cy="711200"/>
          </a:xfrm>
          <a:prstGeom prst="rect">
            <a:avLst/>
          </a:prstGeom>
          <a:solidFill>
            <a:srgbClr val="D8D4D4"/>
          </a:solidFill>
          <a:ln/>
        </p:spPr>
      </p:sp>
      <p:sp>
        <p:nvSpPr>
          <p:cNvPr id="13" name="Shape 11"/>
          <p:cNvSpPr/>
          <p:nvPr/>
        </p:nvSpPr>
        <p:spPr>
          <a:xfrm>
            <a:off x="3313030" y="3790156"/>
            <a:ext cx="1374641" cy="688876"/>
          </a:xfrm>
          <a:prstGeom prst="rect">
            <a:avLst/>
          </a:prstGeom>
          <a:solidFill>
            <a:srgbClr val="F2EEEE"/>
          </a:solidFill>
          <a:ln/>
        </p:spPr>
      </p:sp>
      <p:sp>
        <p:nvSpPr>
          <p:cNvPr id="14" name="Text 12"/>
          <p:cNvSpPr/>
          <p:nvPr/>
        </p:nvSpPr>
        <p:spPr>
          <a:xfrm>
            <a:off x="3920332" y="4001294"/>
            <a:ext cx="769621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2100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1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3479713" y="4569619"/>
            <a:ext cx="1219169" cy="1971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150" b="1" kern="0" spc="11" dirty="0">
                <a:solidFill>
                  <a:srgbClr val="0B1F3A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Input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479713" y="4944566"/>
            <a:ext cx="1041374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Citizen Problem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698882" y="3779044"/>
            <a:ext cx="1396965" cy="711200"/>
          </a:xfrm>
          <a:prstGeom prst="rect">
            <a:avLst/>
          </a:prstGeom>
          <a:solidFill>
            <a:srgbClr val="D8D4D4"/>
          </a:solidFill>
          <a:ln/>
        </p:spPr>
      </p:sp>
      <p:sp>
        <p:nvSpPr>
          <p:cNvPr id="18" name="Shape 16"/>
          <p:cNvSpPr/>
          <p:nvPr/>
        </p:nvSpPr>
        <p:spPr>
          <a:xfrm>
            <a:off x="4709995" y="3790156"/>
            <a:ext cx="1374641" cy="688876"/>
          </a:xfrm>
          <a:prstGeom prst="rect">
            <a:avLst/>
          </a:prstGeom>
          <a:solidFill>
            <a:srgbClr val="F2EEEE"/>
          </a:solidFill>
          <a:ln/>
        </p:spPr>
      </p:sp>
      <p:sp>
        <p:nvSpPr>
          <p:cNvPr id="19" name="Text 17"/>
          <p:cNvSpPr/>
          <p:nvPr/>
        </p:nvSpPr>
        <p:spPr>
          <a:xfrm>
            <a:off x="5317297" y="4001294"/>
            <a:ext cx="769621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2100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2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4876678" y="4569619"/>
            <a:ext cx="1219170" cy="1971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150" b="1" kern="0" spc="11" dirty="0">
                <a:solidFill>
                  <a:srgbClr val="0B1F3A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NLP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876678" y="4944566"/>
            <a:ext cx="104137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AI Parsing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095848" y="3779044"/>
            <a:ext cx="1396965" cy="711200"/>
          </a:xfrm>
          <a:prstGeom prst="rect">
            <a:avLst/>
          </a:prstGeom>
          <a:solidFill>
            <a:srgbClr val="D8D4D4"/>
          </a:solidFill>
          <a:ln/>
        </p:spPr>
      </p:sp>
      <p:sp>
        <p:nvSpPr>
          <p:cNvPr id="23" name="Shape 21"/>
          <p:cNvSpPr/>
          <p:nvPr/>
        </p:nvSpPr>
        <p:spPr>
          <a:xfrm>
            <a:off x="6106960" y="3790156"/>
            <a:ext cx="1374641" cy="688876"/>
          </a:xfrm>
          <a:prstGeom prst="rect">
            <a:avLst/>
          </a:prstGeom>
          <a:solidFill>
            <a:srgbClr val="F2EEEE"/>
          </a:solidFill>
          <a:ln/>
        </p:spPr>
      </p:sp>
      <p:sp>
        <p:nvSpPr>
          <p:cNvPr id="24" name="Text 22"/>
          <p:cNvSpPr/>
          <p:nvPr/>
        </p:nvSpPr>
        <p:spPr>
          <a:xfrm>
            <a:off x="6714262" y="4001294"/>
            <a:ext cx="769621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2100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3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6273643" y="4569619"/>
            <a:ext cx="1219170" cy="1971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150" b="1" kern="0" spc="11" dirty="0">
                <a:solidFill>
                  <a:srgbClr val="0B1F3A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Data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273643" y="4944566"/>
            <a:ext cx="1041374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Public Corpus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492813" y="3779044"/>
            <a:ext cx="1396965" cy="711200"/>
          </a:xfrm>
          <a:prstGeom prst="rect">
            <a:avLst/>
          </a:prstGeom>
          <a:solidFill>
            <a:srgbClr val="D8D4D4"/>
          </a:solidFill>
          <a:ln/>
        </p:spPr>
      </p:sp>
      <p:sp>
        <p:nvSpPr>
          <p:cNvPr id="28" name="Shape 26"/>
          <p:cNvSpPr/>
          <p:nvPr/>
        </p:nvSpPr>
        <p:spPr>
          <a:xfrm>
            <a:off x="7503925" y="3790156"/>
            <a:ext cx="1374641" cy="688876"/>
          </a:xfrm>
          <a:prstGeom prst="rect">
            <a:avLst/>
          </a:prstGeom>
          <a:solidFill>
            <a:srgbClr val="F2EEEE"/>
          </a:solidFill>
          <a:ln/>
        </p:spPr>
      </p:sp>
      <p:sp>
        <p:nvSpPr>
          <p:cNvPr id="29" name="Text 27"/>
          <p:cNvSpPr/>
          <p:nvPr/>
        </p:nvSpPr>
        <p:spPr>
          <a:xfrm>
            <a:off x="8111228" y="4001294"/>
            <a:ext cx="769621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2100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4</a:t>
            </a:r>
            <a:endParaRPr lang="en-US" sz="2100" dirty="0"/>
          </a:p>
        </p:txBody>
      </p:sp>
      <p:sp>
        <p:nvSpPr>
          <p:cNvPr id="30" name="Text 28"/>
          <p:cNvSpPr/>
          <p:nvPr/>
        </p:nvSpPr>
        <p:spPr>
          <a:xfrm>
            <a:off x="7670608" y="4569619"/>
            <a:ext cx="1219170" cy="1971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150" b="1" kern="0" spc="11" dirty="0">
                <a:solidFill>
                  <a:srgbClr val="0B1F3A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RAG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70608" y="4944566"/>
            <a:ext cx="1041374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Verified Evidence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889778" y="3779044"/>
            <a:ext cx="1396965" cy="711200"/>
          </a:xfrm>
          <a:prstGeom prst="rect">
            <a:avLst/>
          </a:prstGeom>
          <a:solidFill>
            <a:srgbClr val="D8D4D4"/>
          </a:solidFill>
          <a:ln/>
        </p:spPr>
      </p:sp>
      <p:sp>
        <p:nvSpPr>
          <p:cNvPr id="33" name="Shape 31"/>
          <p:cNvSpPr/>
          <p:nvPr/>
        </p:nvSpPr>
        <p:spPr>
          <a:xfrm>
            <a:off x="8900890" y="3790156"/>
            <a:ext cx="1374641" cy="688876"/>
          </a:xfrm>
          <a:prstGeom prst="rect">
            <a:avLst/>
          </a:prstGeom>
          <a:solidFill>
            <a:srgbClr val="F2EEEE"/>
          </a:solidFill>
          <a:ln/>
        </p:spPr>
      </p:sp>
      <p:sp>
        <p:nvSpPr>
          <p:cNvPr id="34" name="Text 32"/>
          <p:cNvSpPr/>
          <p:nvPr/>
        </p:nvSpPr>
        <p:spPr>
          <a:xfrm>
            <a:off x="9508193" y="4001294"/>
            <a:ext cx="769621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2100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5</a:t>
            </a:r>
            <a:endParaRPr lang="en-US" sz="2100" dirty="0"/>
          </a:p>
        </p:txBody>
      </p:sp>
      <p:sp>
        <p:nvSpPr>
          <p:cNvPr id="35" name="Text 33"/>
          <p:cNvSpPr/>
          <p:nvPr/>
        </p:nvSpPr>
        <p:spPr>
          <a:xfrm>
            <a:off x="9067573" y="4569619"/>
            <a:ext cx="1219170" cy="1971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150" b="1" kern="0" spc="11" dirty="0">
                <a:solidFill>
                  <a:srgbClr val="0B1F3A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Synthesis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9067573" y="4944566"/>
            <a:ext cx="1041374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Grounded Analysis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10286743" y="3779044"/>
            <a:ext cx="1396965" cy="711200"/>
          </a:xfrm>
          <a:prstGeom prst="rect">
            <a:avLst/>
          </a:prstGeom>
          <a:solidFill>
            <a:srgbClr val="D8D4D4"/>
          </a:solidFill>
          <a:ln/>
        </p:spPr>
      </p:sp>
      <p:sp>
        <p:nvSpPr>
          <p:cNvPr id="38" name="Shape 36"/>
          <p:cNvSpPr/>
          <p:nvPr/>
        </p:nvSpPr>
        <p:spPr>
          <a:xfrm>
            <a:off x="10297855" y="3790156"/>
            <a:ext cx="1374641" cy="688876"/>
          </a:xfrm>
          <a:prstGeom prst="rect">
            <a:avLst/>
          </a:prstGeom>
          <a:solidFill>
            <a:srgbClr val="F2EEEE"/>
          </a:solidFill>
          <a:ln/>
        </p:spPr>
      </p:sp>
      <p:sp>
        <p:nvSpPr>
          <p:cNvPr id="39" name="Text 37"/>
          <p:cNvSpPr/>
          <p:nvPr/>
        </p:nvSpPr>
        <p:spPr>
          <a:xfrm>
            <a:off x="10905158" y="4001294"/>
            <a:ext cx="769621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2100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6</a:t>
            </a:r>
            <a:endParaRPr lang="en-US" sz="2100" dirty="0"/>
          </a:p>
        </p:txBody>
      </p:sp>
      <p:sp>
        <p:nvSpPr>
          <p:cNvPr id="40" name="Text 38"/>
          <p:cNvSpPr/>
          <p:nvPr/>
        </p:nvSpPr>
        <p:spPr>
          <a:xfrm>
            <a:off x="10464538" y="4569619"/>
            <a:ext cx="1219170" cy="1971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150" b="1" kern="0" spc="11" dirty="0">
                <a:solidFill>
                  <a:srgbClr val="0B1F3A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Decision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10464538" y="4944566"/>
            <a:ext cx="1041374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Priority Signal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3301917" y="6051352"/>
            <a:ext cx="8381790" cy="400348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43" name="Text 41"/>
          <p:cNvSpPr/>
          <p:nvPr/>
        </p:nvSpPr>
        <p:spPr>
          <a:xfrm>
            <a:off x="3479713" y="6152952"/>
            <a:ext cx="8203995" cy="1971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150" b="1" kern="0" spc="11" dirty="0">
                <a:solidFill>
                  <a:srgbClr val="0B1F3A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Stack:</a:t>
            </a:r>
            <a:r>
              <a:rPr lang="en-US" sz="1150" kern="0" spc="11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 Multilingual NLP · Open Government Datasets · Hybrid Vector Retrieval · Deterministic Priority Scoring</a:t>
            </a:r>
            <a:endParaRPr lang="en-US" sz="1150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D7D96C16-0974-FF38-7230-6EDDEFAE620D}"/>
              </a:ext>
            </a:extLst>
          </p:cNvPr>
          <p:cNvSpPr/>
          <p:nvPr/>
        </p:nvSpPr>
        <p:spPr>
          <a:xfrm>
            <a:off x="167951" y="186612"/>
            <a:ext cx="2864498" cy="6303088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800" b="1" dirty="0">
                <a:latin typeface="Comic Sans MS" panose="030F0702030302020204" pitchFamily="66" charset="0"/>
              </a:rPr>
              <a:t>NAGRIK</a:t>
            </a:r>
            <a:r>
              <a:rPr lang="en-US" sz="6600" b="1" dirty="0">
                <a:latin typeface="Comic Sans MS" panose="030F0702030302020204" pitchFamily="66" charset="0"/>
              </a:rPr>
              <a:t> </a:t>
            </a:r>
          </a:p>
          <a:p>
            <a:pPr algn="ctr"/>
            <a:r>
              <a:rPr lang="en-US" sz="4800" b="1" dirty="0">
                <a:latin typeface="Comic Sans MS" panose="030F0702030302020204" pitchFamily="66" charset="0"/>
              </a:rPr>
              <a:t>SETU</a:t>
            </a:r>
          </a:p>
          <a:p>
            <a:pPr algn="ctr"/>
            <a:r>
              <a:rPr lang="en-US" sz="6600" b="1" dirty="0">
                <a:latin typeface="Comic Sans MS" panose="030F0702030302020204" pitchFamily="66" charset="0"/>
              </a:rPr>
              <a:t> AI</a:t>
            </a:r>
            <a:endParaRPr lang="en-IN" sz="6600" b="1" dirty="0">
              <a:latin typeface="Comic Sans MS" panose="030F0702030302020204" pitchFamily="66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9" y="457200"/>
            <a:ext cx="11734506" cy="1599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kern="0" spc="63" dirty="0">
                <a:solidFill>
                  <a:srgbClr val="155EEF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THE CIVIC INFORMATION DEFICIT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189" y="696516"/>
            <a:ext cx="11277318" cy="4576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3400" b="1" kern="0" spc="-51" dirty="0">
                <a:solidFill>
                  <a:srgbClr val="0B1F3A"/>
                </a:solidFill>
                <a:latin typeface="Archivo Bold" pitchFamily="34" charset="0"/>
                <a:ea typeface="Archivo Bold" pitchFamily="34" charset="-122"/>
                <a:cs typeface="Archivo Bold" pitchFamily="34" charset="-120"/>
              </a:rPr>
              <a:t>Citizens Report Problems. But Context Is Missing.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189" y="1395512"/>
            <a:ext cx="2819329" cy="38100"/>
          </a:xfrm>
          <a:prstGeom prst="roundRect">
            <a:avLst>
              <a:gd name="adj" fmla="val 49999"/>
            </a:avLst>
          </a:prstGeom>
          <a:solidFill>
            <a:srgbClr val="155EEF"/>
          </a:solidFill>
          <a:ln/>
        </p:spPr>
      </p:sp>
      <p:sp>
        <p:nvSpPr>
          <p:cNvPr id="5" name="Shape 3"/>
          <p:cNvSpPr/>
          <p:nvPr/>
        </p:nvSpPr>
        <p:spPr>
          <a:xfrm>
            <a:off x="457189" y="1655862"/>
            <a:ext cx="2590735" cy="3757513"/>
          </a:xfrm>
          <a:prstGeom prst="roundRect">
            <a:avLst>
              <a:gd name="adj" fmla="val 441"/>
            </a:avLst>
          </a:prstGeom>
          <a:noFill/>
          <a:ln w="19050">
            <a:solidFill>
              <a:srgbClr val="D8D4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9433" y="1931392"/>
            <a:ext cx="1457189" cy="170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kern="0" spc="67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DEFICIT 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79433" y="2234704"/>
            <a:ext cx="2146246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200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Unstructured Complaints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79433" y="3076079"/>
            <a:ext cx="2146246" cy="7885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150" kern="0" spc="11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Natural language reports lack schema, standardized terminology, and spatial normalization.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52716" y="1655862"/>
            <a:ext cx="2590735" cy="3757513"/>
          </a:xfrm>
          <a:prstGeom prst="roundRect">
            <a:avLst>
              <a:gd name="adj" fmla="val 441"/>
            </a:avLst>
          </a:prstGeom>
          <a:noFill/>
          <a:ln w="19050">
            <a:solidFill>
              <a:srgbClr val="D8D4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74961" y="1931392"/>
            <a:ext cx="1457189" cy="170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kern="0" spc="67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DEFICIT 02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574961" y="2234704"/>
            <a:ext cx="2146246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200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Fragmented Repositories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574961" y="3076079"/>
            <a:ext cx="2146246" cy="7885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150" kern="0" spc="11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Infrastructure datasets sit isolated across departments, census releases, and municipal portals.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48244" y="1655862"/>
            <a:ext cx="2590735" cy="3757513"/>
          </a:xfrm>
          <a:prstGeom prst="roundRect">
            <a:avLst>
              <a:gd name="adj" fmla="val 441"/>
            </a:avLst>
          </a:prstGeom>
          <a:noFill/>
          <a:ln w="19050">
            <a:solidFill>
              <a:srgbClr val="D8D4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70488" y="1931392"/>
            <a:ext cx="1457189" cy="170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kern="0" spc="67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DEFICIT 03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70488" y="2234704"/>
            <a:ext cx="2146246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200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Keyword Search Failures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470488" y="3076079"/>
            <a:ext cx="2146246" cy="7885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150" kern="0" spc="11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Citizen dialect and informal descriptions fail to match formal civil engineering taxonomies.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143771" y="1655862"/>
            <a:ext cx="2590735" cy="3757513"/>
          </a:xfrm>
          <a:prstGeom prst="roundRect">
            <a:avLst>
              <a:gd name="adj" fmla="val 441"/>
            </a:avLst>
          </a:prstGeom>
          <a:noFill/>
          <a:ln w="19050">
            <a:solidFill>
              <a:srgbClr val="D8D4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66016" y="1931392"/>
            <a:ext cx="1457189" cy="170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kern="0" spc="67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DEFICIT 04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366016" y="2234704"/>
            <a:ext cx="2146246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200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Isolated Decisions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9366016" y="3076079"/>
            <a:ext cx="2146246" cy="7885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150" kern="0" spc="11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Single grievances hide whether a localized failure reflects widespread ward-level distress.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57189" y="5591175"/>
            <a:ext cx="11277318" cy="809625"/>
          </a:xfrm>
          <a:prstGeom prst="rect">
            <a:avLst/>
          </a:prstGeom>
          <a:solidFill>
            <a:srgbClr val="FFD84A"/>
          </a:solidFill>
          <a:ln/>
        </p:spPr>
      </p:sp>
      <p:sp>
        <p:nvSpPr>
          <p:cNvPr id="22" name="Text 20"/>
          <p:cNvSpPr/>
          <p:nvPr/>
        </p:nvSpPr>
        <p:spPr>
          <a:xfrm>
            <a:off x="685783" y="5743575"/>
            <a:ext cx="10820129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Core Limitation:</a:t>
            </a:r>
            <a:r>
              <a:rPr lang="en-US" sz="1400" dirty="0">
                <a:solidFill>
                  <a:srgbClr val="00000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 complaint documents an individual lived experience, but cannot supply the public infrastructure evidence required to allocate municipal capital.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9" y="457200"/>
            <a:ext cx="11734506" cy="1599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kern="0" spc="63" dirty="0">
                <a:solidFill>
                  <a:srgbClr val="155EEF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SYSTEM ARCHITECTURE PARADIGM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189" y="696516"/>
            <a:ext cx="11277318" cy="4576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3400" b="1" kern="0" spc="-51" dirty="0">
                <a:solidFill>
                  <a:srgbClr val="0B1F3A"/>
                </a:solidFill>
                <a:latin typeface="Archivo Bold" pitchFamily="34" charset="0"/>
                <a:ea typeface="Archivo Bold" pitchFamily="34" charset="-122"/>
                <a:cs typeface="Archivo Bold" pitchFamily="34" charset="-120"/>
              </a:rPr>
              <a:t>Introducing NagrikLens AI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189" y="1351062"/>
            <a:ext cx="11734506" cy="2524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400" dirty="0">
                <a:solidFill>
                  <a:srgbClr val="0B1F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 intelligence and evidence layer connecting citizen input to verifiable municipal action.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189" y="1825724"/>
            <a:ext cx="2819329" cy="38100"/>
          </a:xfrm>
          <a:prstGeom prst="roundRect">
            <a:avLst>
              <a:gd name="adj" fmla="val 49999"/>
            </a:avLst>
          </a:prstGeom>
          <a:solidFill>
            <a:srgbClr val="155EEF"/>
          </a:solidFill>
          <a:ln/>
        </p:spPr>
      </p:sp>
      <p:sp>
        <p:nvSpPr>
          <p:cNvPr id="6" name="Text 4"/>
          <p:cNvSpPr/>
          <p:nvPr/>
        </p:nvSpPr>
        <p:spPr>
          <a:xfrm>
            <a:off x="457189" y="2086074"/>
            <a:ext cx="8229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400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189" y="2335014"/>
            <a:ext cx="2133547" cy="1905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8" name="Text 6"/>
          <p:cNvSpPr/>
          <p:nvPr/>
        </p:nvSpPr>
        <p:spPr>
          <a:xfrm>
            <a:off x="457189" y="2460724"/>
            <a:ext cx="2133547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Understand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189" y="2857599"/>
            <a:ext cx="2133547" cy="5914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150" kern="0" spc="11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Extracts entities, geo-bounds, category, and reported severity from raw text.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743032" y="2086074"/>
            <a:ext cx="8229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400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02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743032" y="2335014"/>
            <a:ext cx="2133547" cy="1905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12" name="Text 10"/>
          <p:cNvSpPr/>
          <p:nvPr/>
        </p:nvSpPr>
        <p:spPr>
          <a:xfrm>
            <a:off x="2743032" y="2460724"/>
            <a:ext cx="2133646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Discover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743032" y="2857599"/>
            <a:ext cx="2133646" cy="5914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150" kern="0" spc="11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Indexes open-government datasets via multilingual semantic vector spaces.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028975" y="2086074"/>
            <a:ext cx="8229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400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03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028975" y="2335014"/>
            <a:ext cx="2133547" cy="1905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16" name="Text 14"/>
          <p:cNvSpPr/>
          <p:nvPr/>
        </p:nvSpPr>
        <p:spPr>
          <a:xfrm>
            <a:off x="5028975" y="2460724"/>
            <a:ext cx="2133646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Verify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028975" y="2857599"/>
            <a:ext cx="2133646" cy="5914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150" kern="0" spc="11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Pins citations to specific dataset records, timestamps, and reporting agencies.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7314918" y="2086074"/>
            <a:ext cx="8229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400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04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314918" y="2335014"/>
            <a:ext cx="2133547" cy="1905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20" name="Text 18"/>
          <p:cNvSpPr/>
          <p:nvPr/>
        </p:nvSpPr>
        <p:spPr>
          <a:xfrm>
            <a:off x="7314918" y="2460724"/>
            <a:ext cx="2133646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Analyze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314918" y="2857599"/>
            <a:ext cx="2133646" cy="5914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150" kern="0" spc="11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Constrains LLM reasoning strictly to retrieved factual public evidence.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9600861" y="2086074"/>
            <a:ext cx="8229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400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05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9600861" y="2335014"/>
            <a:ext cx="2133547" cy="1905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24" name="Text 22"/>
          <p:cNvSpPr/>
          <p:nvPr/>
        </p:nvSpPr>
        <p:spPr>
          <a:xfrm>
            <a:off x="9600861" y="2460724"/>
            <a:ext cx="2133646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Prioritize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600861" y="2857599"/>
            <a:ext cx="2133646" cy="5914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150" kern="0" spc="11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Calculates transparent urgency through deterministic, rule-based scoring.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57189" y="4760714"/>
            <a:ext cx="5486263" cy="1640086"/>
          </a:xfrm>
          <a:prstGeom prst="roundRect">
            <a:avLst>
              <a:gd name="adj" fmla="val 697"/>
            </a:avLst>
          </a:prstGeom>
          <a:solidFill>
            <a:srgbClr val="F2EEEE"/>
          </a:solidFill>
          <a:ln/>
        </p:spPr>
      </p:sp>
      <p:sp>
        <p:nvSpPr>
          <p:cNvPr id="27" name="Text 25"/>
          <p:cNvSpPr/>
          <p:nvPr/>
        </p:nvSpPr>
        <p:spPr>
          <a:xfrm>
            <a:off x="685783" y="4938514"/>
            <a:ext cx="5257668" cy="1599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kern="0" spc="63" dirty="0">
                <a:solidFill>
                  <a:srgbClr val="155EEF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TRADITIONAL COMPLAINT MANAGEMENT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85783" y="5177830"/>
            <a:ext cx="502907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Citizen → Complaint Intake → Relational DB → Queue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85783" y="5574705"/>
            <a:ext cx="5029074" cy="3942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150" kern="0" spc="11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Static ticketing systems store text records without assessing infrastructure context.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248244" y="4760714"/>
            <a:ext cx="5486263" cy="1640086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31" name="Shape 29"/>
          <p:cNvSpPr/>
          <p:nvPr/>
        </p:nvSpPr>
        <p:spPr>
          <a:xfrm>
            <a:off x="6248244" y="4760714"/>
            <a:ext cx="38099" cy="1640086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32" name="Text 30"/>
          <p:cNvSpPr/>
          <p:nvPr/>
        </p:nvSpPr>
        <p:spPr>
          <a:xfrm>
            <a:off x="6514937" y="4938514"/>
            <a:ext cx="5219569" cy="1599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kern="0" spc="63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NAGRIKLENS CIVIC INTELLIGENCE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514937" y="5177830"/>
            <a:ext cx="4990975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Citizen → AI Parsing → Public Data → Evidence Grounding → Priority Signal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514937" y="5828705"/>
            <a:ext cx="4990975" cy="3942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150" kern="0" spc="11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Transforms isolated complaints into contextualized, auditable civic intelligence.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9" y="457200"/>
            <a:ext cx="11734506" cy="1599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kern="0" spc="63" dirty="0">
                <a:solidFill>
                  <a:srgbClr val="155EEF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END-TO-END PIPELINE EXECUTION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189" y="696516"/>
            <a:ext cx="11277318" cy="4576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3400" b="1" kern="0" spc="-51" dirty="0">
                <a:solidFill>
                  <a:srgbClr val="0B1F3A"/>
                </a:solidFill>
                <a:latin typeface="Archivo Bold" pitchFamily="34" charset="0"/>
                <a:ea typeface="Archivo Bold" pitchFamily="34" charset="-122"/>
                <a:cs typeface="Archivo Bold" pitchFamily="34" charset="-120"/>
              </a:rPr>
              <a:t>From Citizen Voice to Civic Intelligence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189" y="1395512"/>
            <a:ext cx="2819329" cy="38100"/>
          </a:xfrm>
          <a:prstGeom prst="roundRect">
            <a:avLst>
              <a:gd name="adj" fmla="val 49999"/>
            </a:avLst>
          </a:prstGeom>
          <a:solidFill>
            <a:srgbClr val="155EEF"/>
          </a:solidFill>
          <a:ln/>
        </p:spPr>
      </p:sp>
      <p:sp>
        <p:nvSpPr>
          <p:cNvPr id="5" name="Shape 3"/>
          <p:cNvSpPr/>
          <p:nvPr/>
        </p:nvSpPr>
        <p:spPr>
          <a:xfrm>
            <a:off x="457189" y="3312517"/>
            <a:ext cx="11277318" cy="19050"/>
          </a:xfrm>
          <a:prstGeom prst="roundRect">
            <a:avLst>
              <a:gd name="adj" fmla="val 49999"/>
            </a:avLst>
          </a:prstGeom>
          <a:solidFill>
            <a:srgbClr val="D8D4D4"/>
          </a:solidFill>
          <a:ln/>
        </p:spPr>
      </p:sp>
      <p:sp>
        <p:nvSpPr>
          <p:cNvPr id="6" name="Shape 4"/>
          <p:cNvSpPr/>
          <p:nvPr/>
        </p:nvSpPr>
        <p:spPr>
          <a:xfrm>
            <a:off x="2253102" y="2779117"/>
            <a:ext cx="19050" cy="533400"/>
          </a:xfrm>
          <a:prstGeom prst="roundRect">
            <a:avLst>
              <a:gd name="adj" fmla="val 49999"/>
            </a:avLst>
          </a:prstGeom>
          <a:solidFill>
            <a:srgbClr val="D8D4D4"/>
          </a:solidFill>
          <a:ln/>
        </p:spPr>
      </p:sp>
      <p:sp>
        <p:nvSpPr>
          <p:cNvPr id="7" name="Shape 5"/>
          <p:cNvSpPr/>
          <p:nvPr/>
        </p:nvSpPr>
        <p:spPr>
          <a:xfrm>
            <a:off x="2195954" y="3245842"/>
            <a:ext cx="133347" cy="133350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8" name="Shape 6"/>
          <p:cNvSpPr/>
          <p:nvPr/>
        </p:nvSpPr>
        <p:spPr>
          <a:xfrm>
            <a:off x="457189" y="1655862"/>
            <a:ext cx="3610877" cy="1123255"/>
          </a:xfrm>
          <a:prstGeom prst="roundRect">
            <a:avLst>
              <a:gd name="adj" fmla="val 1018"/>
            </a:avLst>
          </a:prstGeom>
          <a:solidFill>
            <a:srgbClr val="F2EEEE"/>
          </a:solidFill>
          <a:ln w="6350">
            <a:solidFill>
              <a:srgbClr val="D8D4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334" y="1840012"/>
            <a:ext cx="3242586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600" b="1" kern="0" spc="-24" dirty="0">
                <a:solidFill>
                  <a:srgbClr val="0B1F3A"/>
                </a:solidFill>
                <a:latin typeface="Archivo Bold" pitchFamily="34" charset="0"/>
                <a:ea typeface="Archivo Bold" pitchFamily="34" charset="-122"/>
                <a:cs typeface="Archivo Bold" pitchFamily="34" charset="-120"/>
              </a:rPr>
              <a:t>01. Intake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1334" y="2200672"/>
            <a:ext cx="3242586" cy="3942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1150" kern="0" spc="11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Citizen records problem in natural speech or text.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169663" y="3312517"/>
            <a:ext cx="19050" cy="533400"/>
          </a:xfrm>
          <a:prstGeom prst="roundRect">
            <a:avLst>
              <a:gd name="adj" fmla="val 49999"/>
            </a:avLst>
          </a:prstGeom>
          <a:solidFill>
            <a:srgbClr val="D8D4D4"/>
          </a:solidFill>
          <a:ln/>
        </p:spPr>
      </p:sp>
      <p:sp>
        <p:nvSpPr>
          <p:cNvPr id="12" name="Shape 10"/>
          <p:cNvSpPr/>
          <p:nvPr/>
        </p:nvSpPr>
        <p:spPr>
          <a:xfrm>
            <a:off x="4112514" y="3245842"/>
            <a:ext cx="133347" cy="133350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3" name="Shape 11"/>
          <p:cNvSpPr/>
          <p:nvPr/>
        </p:nvSpPr>
        <p:spPr>
          <a:xfrm>
            <a:off x="2373749" y="3845917"/>
            <a:ext cx="3610976" cy="1123255"/>
          </a:xfrm>
          <a:prstGeom prst="roundRect">
            <a:avLst>
              <a:gd name="adj" fmla="val 1018"/>
            </a:avLst>
          </a:prstGeom>
          <a:solidFill>
            <a:srgbClr val="F2EEEE"/>
          </a:solidFill>
          <a:ln w="6350">
            <a:solidFill>
              <a:srgbClr val="D8D4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57895" y="4030067"/>
            <a:ext cx="3242685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600" b="1" kern="0" spc="-24" dirty="0">
                <a:solidFill>
                  <a:srgbClr val="0B1F3A"/>
                </a:solidFill>
                <a:latin typeface="Archivo Bold" pitchFamily="34" charset="0"/>
                <a:ea typeface="Archivo Bold" pitchFamily="34" charset="-122"/>
                <a:cs typeface="Archivo Bold" pitchFamily="34" charset="-120"/>
              </a:rPr>
              <a:t>02. Structuring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557895" y="4390727"/>
            <a:ext cx="3242685" cy="3942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1150" kern="0" spc="11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NLP extracts location, category, and impact scale.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086224" y="2779117"/>
            <a:ext cx="19050" cy="533400"/>
          </a:xfrm>
          <a:prstGeom prst="roundRect">
            <a:avLst>
              <a:gd name="adj" fmla="val 49999"/>
            </a:avLst>
          </a:prstGeom>
          <a:solidFill>
            <a:srgbClr val="D8D4D4"/>
          </a:solidFill>
          <a:ln/>
        </p:spPr>
      </p:sp>
      <p:sp>
        <p:nvSpPr>
          <p:cNvPr id="17" name="Shape 15"/>
          <p:cNvSpPr/>
          <p:nvPr/>
        </p:nvSpPr>
        <p:spPr>
          <a:xfrm>
            <a:off x="6029075" y="3245842"/>
            <a:ext cx="133347" cy="133350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8" name="Shape 16"/>
          <p:cNvSpPr/>
          <p:nvPr/>
        </p:nvSpPr>
        <p:spPr>
          <a:xfrm>
            <a:off x="4290310" y="1655862"/>
            <a:ext cx="3610976" cy="1123255"/>
          </a:xfrm>
          <a:prstGeom prst="roundRect">
            <a:avLst>
              <a:gd name="adj" fmla="val 1018"/>
            </a:avLst>
          </a:prstGeom>
          <a:solidFill>
            <a:srgbClr val="F2EEEE"/>
          </a:solidFill>
          <a:ln w="6350">
            <a:solidFill>
              <a:srgbClr val="D8D4D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4455" y="1840012"/>
            <a:ext cx="3242685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600" b="1" kern="0" spc="-24" dirty="0">
                <a:solidFill>
                  <a:srgbClr val="0B1F3A"/>
                </a:solidFill>
                <a:latin typeface="Archivo Bold" pitchFamily="34" charset="0"/>
                <a:ea typeface="Archivo Bold" pitchFamily="34" charset="-122"/>
                <a:cs typeface="Archivo Bold" pitchFamily="34" charset="-120"/>
              </a:rPr>
              <a:t>03. Retrieval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474455" y="2200672"/>
            <a:ext cx="3242685" cy="3942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1150" kern="0" spc="11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Multilingual vector match across public datasets.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002883" y="3312517"/>
            <a:ext cx="19050" cy="533400"/>
          </a:xfrm>
          <a:prstGeom prst="roundRect">
            <a:avLst>
              <a:gd name="adj" fmla="val 49999"/>
            </a:avLst>
          </a:prstGeom>
          <a:solidFill>
            <a:srgbClr val="D8D4D4"/>
          </a:solidFill>
          <a:ln/>
        </p:spPr>
      </p:sp>
      <p:sp>
        <p:nvSpPr>
          <p:cNvPr id="22" name="Shape 20"/>
          <p:cNvSpPr/>
          <p:nvPr/>
        </p:nvSpPr>
        <p:spPr>
          <a:xfrm>
            <a:off x="7945735" y="3245842"/>
            <a:ext cx="133347" cy="133350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23" name="Shape 21"/>
          <p:cNvSpPr/>
          <p:nvPr/>
        </p:nvSpPr>
        <p:spPr>
          <a:xfrm>
            <a:off x="6206970" y="3845917"/>
            <a:ext cx="3610877" cy="1123255"/>
          </a:xfrm>
          <a:prstGeom prst="roundRect">
            <a:avLst>
              <a:gd name="adj" fmla="val 1018"/>
            </a:avLst>
          </a:prstGeom>
          <a:solidFill>
            <a:srgbClr val="F2EEEE"/>
          </a:solidFill>
          <a:ln w="6350">
            <a:solidFill>
              <a:srgbClr val="D8D4D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91115" y="4030067"/>
            <a:ext cx="3242586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600" b="1" kern="0" spc="-24" dirty="0">
                <a:solidFill>
                  <a:srgbClr val="0B1F3A"/>
                </a:solidFill>
                <a:latin typeface="Archivo Bold" pitchFamily="34" charset="0"/>
                <a:ea typeface="Archivo Bold" pitchFamily="34" charset="-122"/>
                <a:cs typeface="Archivo Bold" pitchFamily="34" charset="-120"/>
              </a:rPr>
              <a:t>04. RAG Analysis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391115" y="4390727"/>
            <a:ext cx="3242586" cy="3942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1150" kern="0" spc="11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Grounded synthesis verifies evidence coverage.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9919444" y="2779117"/>
            <a:ext cx="19050" cy="533400"/>
          </a:xfrm>
          <a:prstGeom prst="roundRect">
            <a:avLst>
              <a:gd name="adj" fmla="val 49999"/>
            </a:avLst>
          </a:prstGeom>
          <a:solidFill>
            <a:srgbClr val="D8D4D4"/>
          </a:solidFill>
          <a:ln/>
        </p:spPr>
      </p:sp>
      <p:sp>
        <p:nvSpPr>
          <p:cNvPr id="27" name="Shape 25"/>
          <p:cNvSpPr/>
          <p:nvPr/>
        </p:nvSpPr>
        <p:spPr>
          <a:xfrm>
            <a:off x="9862295" y="3245842"/>
            <a:ext cx="133347" cy="133350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28" name="Shape 26"/>
          <p:cNvSpPr/>
          <p:nvPr/>
        </p:nvSpPr>
        <p:spPr>
          <a:xfrm>
            <a:off x="8123530" y="1655862"/>
            <a:ext cx="3610976" cy="1123255"/>
          </a:xfrm>
          <a:prstGeom prst="roundRect">
            <a:avLst>
              <a:gd name="adj" fmla="val 1018"/>
            </a:avLst>
          </a:prstGeom>
          <a:solidFill>
            <a:srgbClr val="F2EEEE"/>
          </a:solidFill>
          <a:ln w="6350">
            <a:solidFill>
              <a:srgbClr val="D8D4D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307676" y="1840012"/>
            <a:ext cx="3242685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600" b="1" kern="0" spc="-24" dirty="0">
                <a:solidFill>
                  <a:srgbClr val="0B1F3A"/>
                </a:solidFill>
                <a:latin typeface="Archivo Bold" pitchFamily="34" charset="0"/>
                <a:ea typeface="Archivo Bold" pitchFamily="34" charset="-122"/>
                <a:cs typeface="Archivo Bold" pitchFamily="34" charset="-120"/>
              </a:rPr>
              <a:t>05. Action Signal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307676" y="2200672"/>
            <a:ext cx="3242685" cy="3942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1150" kern="0" spc="11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Deterministic priority score guides ward response.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457189" y="5281116"/>
            <a:ext cx="2819329" cy="1119684"/>
          </a:xfrm>
          <a:custGeom>
            <a:avLst/>
            <a:gdLst/>
            <a:ahLst/>
            <a:cxnLst/>
            <a:rect l="l" t="t" r="r" b="b"/>
            <a:pathLst>
              <a:path w="2819329" h="1119684">
                <a:moveTo>
                  <a:pt x="9525" y="0"/>
                </a:moveTo>
                <a:lnTo>
                  <a:pt x="2819329" y="0"/>
                </a:lnTo>
                <a:lnTo>
                  <a:pt x="2819329" y="1119684"/>
                </a:lnTo>
                <a:lnTo>
                  <a:pt x="9525" y="1119684"/>
                </a:lnTo>
                <a:arcTo wR="9525" hR="9525" stAng="5400000" swAng="5400000"/>
                <a:lnTo>
                  <a:pt x="0" y="9525"/>
                </a:lnTo>
                <a:arcTo wR="9525" hR="9525" stAng="10800000" swAng="5400000"/>
                <a:close/>
              </a:path>
            </a:pathLst>
          </a:custGeom>
          <a:solidFill>
            <a:srgbClr val="F4F7FB"/>
          </a:solidFill>
          <a:ln/>
        </p:spPr>
      </p:sp>
      <p:sp>
        <p:nvSpPr>
          <p:cNvPr id="32" name="Text 30"/>
          <p:cNvSpPr/>
          <p:nvPr/>
        </p:nvSpPr>
        <p:spPr>
          <a:xfrm>
            <a:off x="634984" y="5408116"/>
            <a:ext cx="2641534" cy="1599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kern="0" spc="63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SAMPLE REPORT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34984" y="5682357"/>
            <a:ext cx="2463738" cy="3942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150" kern="0" spc="11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"Many households in our village don't have reliable tap water"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3454314" y="5408116"/>
            <a:ext cx="2641534" cy="1599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kern="0" spc="63" dirty="0">
                <a:solidFill>
                  <a:srgbClr val="155EEF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STRUCTURED ENTITIES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3454314" y="5682357"/>
            <a:ext cx="2463738" cy="5914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150" kern="0" spc="11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Domain: Water Infrastructure</a:t>
            </a:r>
            <a:endParaRPr lang="en-US" sz="1150" dirty="0"/>
          </a:p>
          <a:p>
            <a:pPr marL="0" indent="0" algn="l">
              <a:lnSpc>
                <a:spcPct val="113000"/>
              </a:lnSpc>
              <a:buNone/>
            </a:pPr>
            <a:r>
              <a:rPr lang="en-US" sz="1150" kern="0" spc="11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Geo: Rural Habitation</a:t>
            </a:r>
            <a:endParaRPr lang="en-US" sz="1150" dirty="0"/>
          </a:p>
          <a:p>
            <a:pPr marL="0" indent="0" algn="l">
              <a:lnSpc>
                <a:spcPct val="113000"/>
              </a:lnSpc>
              <a:buNone/>
            </a:pPr>
            <a:r>
              <a:rPr lang="en-US" sz="1150" kern="0" spc="11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Cohort: Multi-Household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6273643" y="5408116"/>
            <a:ext cx="2641534" cy="1599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kern="0" spc="63" dirty="0">
                <a:solidFill>
                  <a:srgbClr val="155EEF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PUBLIC MATCH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273643" y="5682357"/>
            <a:ext cx="2463738" cy="5914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150" kern="0" spc="11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Public Jal Jeevan Mission village scheme completion and pipeline records.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8915177" y="5281116"/>
            <a:ext cx="2819329" cy="1119684"/>
          </a:xfrm>
          <a:custGeom>
            <a:avLst/>
            <a:gdLst/>
            <a:ahLst/>
            <a:cxnLst/>
            <a:rect l="l" t="t" r="r" b="b"/>
            <a:pathLst>
              <a:path w="2819329" h="1119684">
                <a:moveTo>
                  <a:pt x="0" y="0"/>
                </a:moveTo>
                <a:lnTo>
                  <a:pt x="2809805" y="0"/>
                </a:lnTo>
                <a:arcTo wR="9525" hR="9525" stAng="16200000" swAng="5400000"/>
                <a:lnTo>
                  <a:pt x="2819329" y="1110159"/>
                </a:lnTo>
                <a:arcTo wR="9525" hR="9525" stAng="0" swAng="5400000"/>
                <a:lnTo>
                  <a:pt x="0" y="1119684"/>
                </a:lnTo>
                <a:lnTo>
                  <a:pt x="0" y="0"/>
                </a:lnTo>
                <a:close/>
              </a:path>
            </a:pathLst>
          </a:custGeom>
          <a:solidFill>
            <a:srgbClr val="F4F7FB"/>
          </a:solidFill>
          <a:ln/>
        </p:spPr>
      </p:sp>
      <p:sp>
        <p:nvSpPr>
          <p:cNvPr id="39" name="Text 37"/>
          <p:cNvSpPr/>
          <p:nvPr/>
        </p:nvSpPr>
        <p:spPr>
          <a:xfrm>
            <a:off x="9092973" y="5408116"/>
            <a:ext cx="2641534" cy="1599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kern="0" spc="63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OUTPUT SIGNAL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9092973" y="5682357"/>
            <a:ext cx="2463738" cy="5914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150" kern="0" spc="11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Documented pipeline gap identified. Priority: High. Evidence coverage: Strong.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3270168" y="5281116"/>
            <a:ext cx="12700" cy="1119684"/>
          </a:xfrm>
          <a:prstGeom prst="rect">
            <a:avLst/>
          </a:prstGeom>
          <a:solidFill>
            <a:srgbClr val="155EEF"/>
          </a:solidFill>
          <a:ln/>
        </p:spPr>
      </p:sp>
      <p:sp>
        <p:nvSpPr>
          <p:cNvPr id="42" name="Shape 40"/>
          <p:cNvSpPr/>
          <p:nvPr/>
        </p:nvSpPr>
        <p:spPr>
          <a:xfrm>
            <a:off x="6089498" y="5281116"/>
            <a:ext cx="12700" cy="1119684"/>
          </a:xfrm>
          <a:prstGeom prst="rect">
            <a:avLst/>
          </a:prstGeom>
          <a:solidFill>
            <a:srgbClr val="155EEF"/>
          </a:solidFill>
          <a:ln/>
        </p:spPr>
      </p:sp>
      <p:sp>
        <p:nvSpPr>
          <p:cNvPr id="43" name="Shape 41"/>
          <p:cNvSpPr/>
          <p:nvPr/>
        </p:nvSpPr>
        <p:spPr>
          <a:xfrm>
            <a:off x="8908827" y="5281116"/>
            <a:ext cx="12700" cy="1119684"/>
          </a:xfrm>
          <a:prstGeom prst="rect">
            <a:avLst/>
          </a:prstGeom>
          <a:solidFill>
            <a:srgbClr val="155EEF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9" y="457200"/>
            <a:ext cx="11734506" cy="1599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kern="0" spc="63" dirty="0">
                <a:solidFill>
                  <a:srgbClr val="155EEF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HYBRID RETRIEVAL ARCHITECTURE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189" y="696516"/>
            <a:ext cx="11277318" cy="4576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3400" b="1" kern="0" spc="-51" dirty="0">
                <a:solidFill>
                  <a:srgbClr val="0B1F3A"/>
                </a:solidFill>
                <a:latin typeface="Archivo Bold" pitchFamily="34" charset="0"/>
                <a:ea typeface="Archivo Bold" pitchFamily="34" charset="-122"/>
                <a:cs typeface="Archivo Bold" pitchFamily="34" charset="-120"/>
              </a:rPr>
              <a:t>How NagrikLens Finds the Right Evidence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189" y="1351062"/>
            <a:ext cx="11734506" cy="2524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400" dirty="0">
                <a:solidFill>
                  <a:srgbClr val="0B1F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Pairing dense semantic embeddings with strict administrative metadata filtering.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189" y="1825724"/>
            <a:ext cx="2819329" cy="38100"/>
          </a:xfrm>
          <a:prstGeom prst="roundRect">
            <a:avLst>
              <a:gd name="adj" fmla="val 49999"/>
            </a:avLst>
          </a:prstGeom>
          <a:solidFill>
            <a:srgbClr val="155EEF"/>
          </a:solidFill>
          <a:ln/>
        </p:spPr>
      </p:sp>
      <p:sp>
        <p:nvSpPr>
          <p:cNvPr id="6" name="Shape 4"/>
          <p:cNvSpPr/>
          <p:nvPr/>
        </p:nvSpPr>
        <p:spPr>
          <a:xfrm>
            <a:off x="457189" y="2086074"/>
            <a:ext cx="2590735" cy="3810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7" name="Shape 5"/>
          <p:cNvSpPr/>
          <p:nvPr/>
        </p:nvSpPr>
        <p:spPr>
          <a:xfrm>
            <a:off x="660383" y="2327374"/>
            <a:ext cx="946424" cy="277217"/>
          </a:xfrm>
          <a:prstGeom prst="roundRect">
            <a:avLst>
              <a:gd name="adj" fmla="val 4123"/>
            </a:avLst>
          </a:prstGeom>
          <a:solidFill>
            <a:srgbClr val="D4E3F7"/>
          </a:solidFill>
          <a:ln/>
        </p:spPr>
      </p:sp>
      <p:sp>
        <p:nvSpPr>
          <p:cNvPr id="8" name="Text 6"/>
          <p:cNvSpPr/>
          <p:nvPr/>
        </p:nvSpPr>
        <p:spPr>
          <a:xfrm>
            <a:off x="767041" y="2380655"/>
            <a:ext cx="1342694" cy="170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kern="0" spc="67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PHASE 01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60383" y="2683966"/>
            <a:ext cx="2184345" cy="349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200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Entity Extraction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60383" y="3176091"/>
            <a:ext cx="2184345" cy="1297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3000"/>
              </a:lnSpc>
              <a:spcAft>
                <a:spcPts val="850"/>
              </a:spcAft>
              <a:buNone/>
            </a:pPr>
            <a:r>
              <a:rPr lang="en-US" sz="1150" b="1" kern="0" spc="11" dirty="0">
                <a:solidFill>
                  <a:srgbClr val="0B1F3A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Engine:</a:t>
            </a:r>
            <a:r>
              <a:rPr lang="en-US" sz="1150" kern="0" spc="11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 Gemini LLM</a:t>
            </a:r>
            <a:endParaRPr lang="en-US" sz="1150" dirty="0"/>
          </a:p>
          <a:p>
            <a:pPr marL="0" indent="0" algn="l">
              <a:lnSpc>
                <a:spcPct val="113000"/>
              </a:lnSpc>
              <a:buNone/>
            </a:pPr>
            <a:r>
              <a:rPr lang="en-US" sz="1150" kern="0" spc="11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Parses unstructured text to isolate domain classification, administrative jurisdiction, reported severity, and affected population bounds.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52716" y="2086074"/>
            <a:ext cx="2590735" cy="3810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12" name="Shape 10"/>
          <p:cNvSpPr/>
          <p:nvPr/>
        </p:nvSpPr>
        <p:spPr>
          <a:xfrm>
            <a:off x="3555911" y="2327374"/>
            <a:ext cx="946424" cy="277217"/>
          </a:xfrm>
          <a:prstGeom prst="roundRect">
            <a:avLst>
              <a:gd name="adj" fmla="val 4123"/>
            </a:avLst>
          </a:prstGeom>
          <a:solidFill>
            <a:srgbClr val="D4E3F7"/>
          </a:solidFill>
          <a:ln/>
        </p:spPr>
      </p:sp>
      <p:sp>
        <p:nvSpPr>
          <p:cNvPr id="13" name="Text 11"/>
          <p:cNvSpPr/>
          <p:nvPr/>
        </p:nvSpPr>
        <p:spPr>
          <a:xfrm>
            <a:off x="3662569" y="2380655"/>
            <a:ext cx="1342694" cy="170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kern="0" spc="67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PHASE 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555911" y="2683966"/>
            <a:ext cx="2184345" cy="349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200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Semantic Index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555911" y="3176091"/>
            <a:ext cx="2184345" cy="1297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3000"/>
              </a:lnSpc>
              <a:spcAft>
                <a:spcPts val="850"/>
              </a:spcAft>
              <a:buNone/>
            </a:pPr>
            <a:r>
              <a:rPr lang="en-US" sz="1150" b="1" kern="0" spc="11" dirty="0">
                <a:solidFill>
                  <a:srgbClr val="0B1F3A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Model:</a:t>
            </a:r>
            <a:r>
              <a:rPr lang="en-US" sz="1150" kern="0" spc="11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 MiniLM-L12-v2</a:t>
            </a:r>
            <a:endParaRPr lang="en-US" sz="1150" dirty="0"/>
          </a:p>
          <a:p>
            <a:pPr marL="0" indent="0" algn="l">
              <a:lnSpc>
                <a:spcPct val="113000"/>
              </a:lnSpc>
              <a:buNone/>
            </a:pPr>
            <a:r>
              <a:rPr lang="en-US" sz="1150" kern="0" spc="11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Generates 384-dimensional dense vectors via multilingual Sentence Transformers to bridge citizen vernacular and formal civil registries.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48244" y="2086074"/>
            <a:ext cx="2590735" cy="3810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17" name="Shape 15"/>
          <p:cNvSpPr/>
          <p:nvPr/>
        </p:nvSpPr>
        <p:spPr>
          <a:xfrm>
            <a:off x="6451439" y="2327374"/>
            <a:ext cx="946424" cy="277217"/>
          </a:xfrm>
          <a:prstGeom prst="roundRect">
            <a:avLst>
              <a:gd name="adj" fmla="val 4123"/>
            </a:avLst>
          </a:prstGeom>
          <a:solidFill>
            <a:srgbClr val="D4E3F7"/>
          </a:solidFill>
          <a:ln/>
        </p:spPr>
      </p:sp>
      <p:sp>
        <p:nvSpPr>
          <p:cNvPr id="18" name="Text 16"/>
          <p:cNvSpPr/>
          <p:nvPr/>
        </p:nvSpPr>
        <p:spPr>
          <a:xfrm>
            <a:off x="6558096" y="2380655"/>
            <a:ext cx="1342694" cy="170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kern="0" spc="67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PHASE 03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51439" y="2683966"/>
            <a:ext cx="2184345" cy="349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200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Vector Search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451439" y="3176091"/>
            <a:ext cx="2184345" cy="1297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3000"/>
              </a:lnSpc>
              <a:spcAft>
                <a:spcPts val="850"/>
              </a:spcAft>
              <a:buNone/>
            </a:pPr>
            <a:r>
              <a:rPr lang="en-US" sz="1150" b="1" kern="0" spc="11" dirty="0">
                <a:solidFill>
                  <a:srgbClr val="0B1F3A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Index:</a:t>
            </a:r>
            <a:r>
              <a:rPr lang="en-US" sz="1150" kern="0" spc="11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 FAISS Vector Store</a:t>
            </a:r>
            <a:endParaRPr lang="en-US" sz="1150" dirty="0"/>
          </a:p>
          <a:p>
            <a:pPr marL="0" indent="0" algn="l">
              <a:lnSpc>
                <a:spcPct val="113000"/>
              </a:lnSpc>
              <a:buNone/>
            </a:pPr>
            <a:r>
              <a:rPr lang="en-US" sz="1150" kern="0" spc="11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Executes sub-millisecond approximate nearest neighbor retrieval across chunked public infrastructure records and municipal registries.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9143771" y="2086074"/>
            <a:ext cx="2590735" cy="3736578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22" name="Shape 20"/>
          <p:cNvSpPr/>
          <p:nvPr/>
        </p:nvSpPr>
        <p:spPr>
          <a:xfrm>
            <a:off x="9143771" y="2086074"/>
            <a:ext cx="2590735" cy="3810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23" name="Shape 21"/>
          <p:cNvSpPr/>
          <p:nvPr/>
        </p:nvSpPr>
        <p:spPr>
          <a:xfrm>
            <a:off x="9346966" y="2327374"/>
            <a:ext cx="946424" cy="277217"/>
          </a:xfrm>
          <a:prstGeom prst="roundRect">
            <a:avLst>
              <a:gd name="adj" fmla="val 4123"/>
            </a:avLst>
          </a:prstGeom>
          <a:solidFill>
            <a:srgbClr val="D4E3F7"/>
          </a:solidFill>
          <a:ln/>
        </p:spPr>
      </p:sp>
      <p:sp>
        <p:nvSpPr>
          <p:cNvPr id="24" name="Text 22"/>
          <p:cNvSpPr/>
          <p:nvPr/>
        </p:nvSpPr>
        <p:spPr>
          <a:xfrm>
            <a:off x="9453624" y="2380655"/>
            <a:ext cx="1342694" cy="170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kern="0" spc="67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PHASE 04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346966" y="2683966"/>
            <a:ext cx="2184345" cy="349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200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Metadata Filter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9346966" y="3176091"/>
            <a:ext cx="2184345" cy="1297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3000"/>
              </a:lnSpc>
              <a:spcAft>
                <a:spcPts val="850"/>
              </a:spcAft>
              <a:buNone/>
            </a:pPr>
            <a:r>
              <a:rPr lang="en-US" sz="1150" b="1" kern="0" spc="11" dirty="0">
                <a:solidFill>
                  <a:srgbClr val="0B1F3A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Filter:</a:t>
            </a:r>
            <a:r>
              <a:rPr lang="en-US" sz="1150" kern="0" spc="11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 SQL Metadata</a:t>
            </a:r>
            <a:endParaRPr lang="en-US" sz="1150" dirty="0"/>
          </a:p>
          <a:p>
            <a:pPr marL="0" indent="0" algn="l">
              <a:lnSpc>
                <a:spcPct val="113000"/>
              </a:lnSpc>
              <a:buNone/>
            </a:pPr>
            <a:r>
              <a:rPr lang="en-US" sz="1150" kern="0" spc="11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Enforces deterministic boundaries on state, district, department code, and dataset publication recency prior to RAG ingestion.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57189" y="6000452"/>
            <a:ext cx="11277318" cy="400348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28" name="Text 26"/>
          <p:cNvSpPr/>
          <p:nvPr/>
        </p:nvSpPr>
        <p:spPr>
          <a:xfrm>
            <a:off x="634984" y="6102052"/>
            <a:ext cx="11099522" cy="1971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150" b="1" kern="0" spc="1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Retrieval Formula:</a:t>
            </a:r>
            <a:r>
              <a:rPr lang="en-US" sz="1150" kern="0" spc="11" dirty="0">
                <a:solidFill>
                  <a:srgbClr val="000000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 Dense Vector Similarity + Administrative Metadata Filters → Precision Evidence Candidates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9" y="457200"/>
            <a:ext cx="11734506" cy="1599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kern="0" spc="63" dirty="0">
                <a:solidFill>
                  <a:srgbClr val="155EEF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GROUNDED SYNTHESIS &amp; HALLUCINATION PREVENTION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189" y="696516"/>
            <a:ext cx="11277318" cy="4576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3400" b="1" kern="0" spc="-51" dirty="0">
                <a:solidFill>
                  <a:srgbClr val="0B1F3A"/>
                </a:solidFill>
                <a:latin typeface="Archivo Bold" pitchFamily="34" charset="0"/>
                <a:ea typeface="Archivo Bold" pitchFamily="34" charset="-122"/>
                <a:cs typeface="Archivo Bold" pitchFamily="34" charset="-120"/>
              </a:rPr>
              <a:t>AI That Knows When the Evidence Is Not Enough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189" y="1351062"/>
            <a:ext cx="11734506" cy="2524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400" dirty="0">
                <a:solidFill>
                  <a:srgbClr val="0B1F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Citizen Request + Retrieved Evidence → RAG → Gemini → Evidence-Grounded Analysis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189" y="1825724"/>
            <a:ext cx="2819329" cy="38100"/>
          </a:xfrm>
          <a:prstGeom prst="roundRect">
            <a:avLst>
              <a:gd name="adj" fmla="val 49999"/>
            </a:avLst>
          </a:prstGeom>
          <a:solidFill>
            <a:srgbClr val="155EEF"/>
          </a:solidFill>
          <a:ln/>
        </p:spPr>
      </p:sp>
      <p:sp>
        <p:nvSpPr>
          <p:cNvPr id="6" name="Text 4"/>
          <p:cNvSpPr/>
          <p:nvPr/>
        </p:nvSpPr>
        <p:spPr>
          <a:xfrm>
            <a:off x="660383" y="2289274"/>
            <a:ext cx="5079873" cy="349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200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Constrained RAG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60383" y="2781399"/>
            <a:ext cx="5079873" cy="3942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150" kern="0" spc="11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Gemini receives the citizen request and retrieved evidence, not free rein to invent information.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60383" y="3353495"/>
            <a:ext cx="5079873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AI Output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60383" y="3750370"/>
            <a:ext cx="5283068" cy="1971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150" kern="0" spc="11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Summary · Observations · Evidence Used · Limitations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248244" y="2086074"/>
            <a:ext cx="5486263" cy="349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200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Evidence Coverage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248244" y="2578199"/>
            <a:ext cx="5486263" cy="558800"/>
          </a:xfrm>
          <a:prstGeom prst="rect">
            <a:avLst/>
          </a:prstGeom>
          <a:solidFill>
            <a:srgbClr val="A9EBC6"/>
          </a:solidFill>
          <a:ln/>
        </p:spPr>
      </p:sp>
      <p:sp>
        <p:nvSpPr>
          <p:cNvPr id="12" name="Text 10"/>
          <p:cNvSpPr/>
          <p:nvPr/>
        </p:nvSpPr>
        <p:spPr>
          <a:xfrm>
            <a:off x="6451439" y="2730599"/>
            <a:ext cx="5079873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STRONG COVERAGE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48244" y="3289399"/>
            <a:ext cx="5486263" cy="558800"/>
          </a:xfrm>
          <a:prstGeom prst="rect">
            <a:avLst/>
          </a:prstGeom>
          <a:solidFill>
            <a:srgbClr val="FFD84A"/>
          </a:solidFill>
          <a:ln/>
        </p:spPr>
      </p:sp>
      <p:sp>
        <p:nvSpPr>
          <p:cNvPr id="14" name="Text 12"/>
          <p:cNvSpPr/>
          <p:nvPr/>
        </p:nvSpPr>
        <p:spPr>
          <a:xfrm>
            <a:off x="6451439" y="3441799"/>
            <a:ext cx="5079873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PARTIAL COVERAGE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248244" y="4000599"/>
            <a:ext cx="5486263" cy="558800"/>
          </a:xfrm>
          <a:prstGeom prst="rect">
            <a:avLst/>
          </a:prstGeom>
          <a:solidFill>
            <a:srgbClr val="FDE2DF"/>
          </a:solidFill>
          <a:ln/>
        </p:spPr>
      </p:sp>
      <p:sp>
        <p:nvSpPr>
          <p:cNvPr id="16" name="Text 14"/>
          <p:cNvSpPr/>
          <p:nvPr/>
        </p:nvSpPr>
        <p:spPr>
          <a:xfrm>
            <a:off x="6451439" y="4152999"/>
            <a:ext cx="5079873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INSUFFICIENT COVERAGE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2396" y="6148387"/>
            <a:ext cx="11886903" cy="2524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8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No evidence → No invented conclusion.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9" y="457200"/>
            <a:ext cx="11734506" cy="1599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kern="0" spc="63" dirty="0">
                <a:solidFill>
                  <a:srgbClr val="155EEF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AUDITABLE SCORING ENGINE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189" y="696516"/>
            <a:ext cx="11277318" cy="4576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3400" b="1" kern="0" spc="-51" dirty="0">
                <a:solidFill>
                  <a:srgbClr val="0B1F3A"/>
                </a:solidFill>
                <a:latin typeface="Archivo Bold" pitchFamily="34" charset="0"/>
                <a:ea typeface="Archivo Bold" pitchFamily="34" charset="-122"/>
                <a:cs typeface="Archivo Bold" pitchFamily="34" charset="-120"/>
              </a:rPr>
              <a:t>From Evidence to an Explainable Priority Signal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189" y="1351062"/>
            <a:ext cx="11734506" cy="2524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400" dirty="0">
                <a:solidFill>
                  <a:srgbClr val="0B1F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 interpretation is separate from priority calculation.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189" y="1825724"/>
            <a:ext cx="2819329" cy="38100"/>
          </a:xfrm>
          <a:prstGeom prst="roundRect">
            <a:avLst>
              <a:gd name="adj" fmla="val 49999"/>
            </a:avLst>
          </a:prstGeom>
          <a:solidFill>
            <a:srgbClr val="155EEF"/>
          </a:solidFill>
          <a:ln/>
        </p:spPr>
      </p:sp>
      <p:sp>
        <p:nvSpPr>
          <p:cNvPr id="6" name="Text 4"/>
          <p:cNvSpPr/>
          <p:nvPr/>
        </p:nvSpPr>
        <p:spPr>
          <a:xfrm>
            <a:off x="457189" y="2086074"/>
            <a:ext cx="11734506" cy="1971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150" kern="0" spc="11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Evidence → Factor Extraction → Deterministic Scoring → Priority Signal → Explanation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189" y="2689622"/>
            <a:ext cx="2362835" cy="277217"/>
          </a:xfrm>
          <a:prstGeom prst="roundRect">
            <a:avLst>
              <a:gd name="adj" fmla="val 4123"/>
            </a:avLst>
          </a:prstGeom>
          <a:solidFill>
            <a:srgbClr val="D4E3F7"/>
          </a:solidFill>
          <a:ln/>
        </p:spPr>
      </p:sp>
      <p:sp>
        <p:nvSpPr>
          <p:cNvPr id="8" name="Text 6"/>
          <p:cNvSpPr/>
          <p:nvPr/>
        </p:nvSpPr>
        <p:spPr>
          <a:xfrm>
            <a:off x="563846" y="2742902"/>
            <a:ext cx="2759105" cy="170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kern="0" spc="67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PROPOSED / CONFIGURABLE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189" y="3081139"/>
            <a:ext cx="5486263" cy="1971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150" kern="0" spc="11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Not an official government formula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189" y="3456087"/>
            <a:ext cx="5486263" cy="349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200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Example factor weights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189" y="3948212"/>
          <a:ext cx="10972800" cy="1596986"/>
        </p:xfrm>
        <a:graphic>
          <a:graphicData uri="http://schemas.openxmlformats.org/drawingml/2006/table">
            <a:tbl>
              <a:tblPr/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083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0B1F3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Severity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0B1F3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30%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83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0B1F3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Vulnerability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0B1F3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30%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83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0B1F3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Infrastructure Gap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0B1F3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25%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44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0B1F3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Evidence Coverage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0B1F3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15%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6705432" y="2509232"/>
            <a:ext cx="5486263" cy="3312815"/>
          </a:xfrm>
          <a:prstGeom prst="roundRect">
            <a:avLst>
              <a:gd name="adj" fmla="val 345"/>
            </a:avLst>
          </a:prstGeom>
          <a:solidFill>
            <a:srgbClr val="F4F7FB"/>
          </a:solidFill>
          <a:ln w="19050">
            <a:solidFill>
              <a:srgbClr val="D8D4D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0460" y="2701378"/>
            <a:ext cx="4990975" cy="349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200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Priority signal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850460" y="3100305"/>
            <a:ext cx="4990975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High / Medium / Low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6850460" y="3492580"/>
            <a:ext cx="4990975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400" dirty="0">
                <a:solidFill>
                  <a:srgbClr val="0B1F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Supporting factors · Evidence used · Missing information · Explanation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457189" y="5951637"/>
            <a:ext cx="11734506" cy="1971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150" b="1" kern="0" spc="11" dirty="0">
                <a:solidFill>
                  <a:srgbClr val="0B1F3A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Principle:</a:t>
            </a:r>
            <a:r>
              <a:rPr lang="en-US" sz="1150" kern="0" spc="11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 Missing data is represented as missing, never assumed.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9" y="1381919"/>
            <a:ext cx="11734506" cy="1599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kern="0" spc="63" dirty="0">
                <a:solidFill>
                  <a:srgbClr val="155EEF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TECHNICAL ARCHITECTURE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189" y="1621234"/>
            <a:ext cx="11277318" cy="4576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3400" b="1" kern="0" spc="-51" dirty="0">
                <a:solidFill>
                  <a:srgbClr val="0B1F3A"/>
                </a:solidFill>
                <a:latin typeface="Archivo Bold" pitchFamily="34" charset="0"/>
                <a:ea typeface="Archivo Bold" pitchFamily="34" charset="-122"/>
                <a:cs typeface="Archivo Bold" pitchFamily="34" charset="-120"/>
              </a:rPr>
              <a:t>NagrikLens AI: System Architecture</a:t>
            </a:r>
            <a:endParaRPr lang="en-US" sz="3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189" y="2275780"/>
          <a:ext cx="11277318" cy="3200322"/>
        </p:xfrm>
        <a:graphic>
          <a:graphicData uri="http://schemas.openxmlformats.org/drawingml/2006/table">
            <a:tbl>
              <a:tblPr/>
              <a:tblGrid>
                <a:gridCol w="31576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196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083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0B1F3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Layer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0B1F3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Components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83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0B1F3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User layer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0B1F3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Citizen · Analyst · Admin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83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0B1F3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React frontend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0B1F3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React · Vite · TypeScript · Voice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83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0B1F3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FastAPI backend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0B1F3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FastAPI · Auth · Reports · Evidence · Analytics · Datasets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83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0B1F3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AI intelligence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0B1F3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Gemini · NLP · RAG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083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0B1F3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Retrieval engine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0B1F3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Sentence Transformers · FAISS · Metadata Search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083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0B1F3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Data layer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0B1F3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SQLite/PostgreSQL · Evidence · Reports · Datasets · Audit Logs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44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0B1F3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Verified public data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0B1F3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Open Government / Public Data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9" y="457200"/>
            <a:ext cx="11734506" cy="1599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kern="0" spc="63" dirty="0">
                <a:solidFill>
                  <a:srgbClr val="155EEF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ROLE-BASED OPERATIONAL VALUE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189" y="696516"/>
            <a:ext cx="11277318" cy="4576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3400" b="1" kern="0" spc="-51" dirty="0">
                <a:solidFill>
                  <a:srgbClr val="0B1F3A"/>
                </a:solidFill>
                <a:latin typeface="Archivo Bold" pitchFamily="34" charset="0"/>
                <a:ea typeface="Archivo Bold" pitchFamily="34" charset="-122"/>
                <a:cs typeface="Archivo Bold" pitchFamily="34" charset="-120"/>
              </a:rPr>
              <a:t>One Platform. Multiple Stakeholders.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189" y="1351062"/>
            <a:ext cx="11734506" cy="2524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400" dirty="0">
                <a:solidFill>
                  <a:srgbClr val="0B1F3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Tailored operational surfaces driven by the same verified civic intelligence core.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189" y="1825724"/>
            <a:ext cx="2819329" cy="38100"/>
          </a:xfrm>
          <a:prstGeom prst="roundRect">
            <a:avLst>
              <a:gd name="adj" fmla="val 49999"/>
            </a:avLst>
          </a:prstGeom>
          <a:solidFill>
            <a:srgbClr val="155EEF"/>
          </a:solidFill>
          <a:ln/>
        </p:spPr>
      </p:sp>
      <p:sp>
        <p:nvSpPr>
          <p:cNvPr id="6" name="Shape 4"/>
          <p:cNvSpPr/>
          <p:nvPr/>
        </p:nvSpPr>
        <p:spPr>
          <a:xfrm>
            <a:off x="457189" y="2086074"/>
            <a:ext cx="3555911" cy="3810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7" name="Shape 5"/>
          <p:cNvSpPr/>
          <p:nvPr/>
        </p:nvSpPr>
        <p:spPr>
          <a:xfrm>
            <a:off x="660383" y="2327374"/>
            <a:ext cx="1274830" cy="277217"/>
          </a:xfrm>
          <a:prstGeom prst="roundRect">
            <a:avLst>
              <a:gd name="adj" fmla="val 4123"/>
            </a:avLst>
          </a:prstGeom>
          <a:solidFill>
            <a:srgbClr val="D4E3F7"/>
          </a:solidFill>
          <a:ln/>
        </p:spPr>
      </p:sp>
      <p:sp>
        <p:nvSpPr>
          <p:cNvPr id="8" name="Text 6"/>
          <p:cNvSpPr/>
          <p:nvPr/>
        </p:nvSpPr>
        <p:spPr>
          <a:xfrm>
            <a:off x="767041" y="2380655"/>
            <a:ext cx="1671100" cy="170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kern="0" spc="67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FOR CITIZENS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60383" y="2683966"/>
            <a:ext cx="3149521" cy="349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200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Direct Civic Voice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60383" y="3328491"/>
            <a:ext cx="3149521" cy="3942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150" b="1" kern="0" spc="11" dirty="0">
                <a:solidFill>
                  <a:srgbClr val="0B1F3A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Frictionless Reporting:</a:t>
            </a:r>
            <a:r>
              <a:rPr lang="en-US" sz="1150" kern="0" spc="11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 Voice and text in English, Hindi, and Gujarati.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60383" y="4027587"/>
            <a:ext cx="3149521" cy="3942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150" b="1" kern="0" spc="11" dirty="0">
                <a:solidFill>
                  <a:srgbClr val="0B1F3A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Contextual Feedback:</a:t>
            </a:r>
            <a:r>
              <a:rPr lang="en-US" sz="1150" kern="0" spc="11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 Explanations of how their issue connects to local data.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60383" y="4726682"/>
            <a:ext cx="3149521" cy="3942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150" b="1" kern="0" spc="11" dirty="0">
                <a:solidFill>
                  <a:srgbClr val="0B1F3A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Verifiable Tracking:</a:t>
            </a:r>
            <a:r>
              <a:rPr lang="en-US" sz="1150" kern="0" spc="11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 Live status without administrative black boxes.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317892" y="2086074"/>
            <a:ext cx="3555911" cy="3685778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14" name="Shape 12"/>
          <p:cNvSpPr/>
          <p:nvPr/>
        </p:nvSpPr>
        <p:spPr>
          <a:xfrm>
            <a:off x="4317892" y="2086074"/>
            <a:ext cx="3555911" cy="3810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15" name="Shape 13"/>
          <p:cNvSpPr/>
          <p:nvPr/>
        </p:nvSpPr>
        <p:spPr>
          <a:xfrm>
            <a:off x="4521087" y="2327374"/>
            <a:ext cx="1314020" cy="277217"/>
          </a:xfrm>
          <a:prstGeom prst="roundRect">
            <a:avLst>
              <a:gd name="adj" fmla="val 4123"/>
            </a:avLst>
          </a:prstGeom>
          <a:solidFill>
            <a:srgbClr val="D4E3F7"/>
          </a:solidFill>
          <a:ln/>
        </p:spPr>
      </p:sp>
      <p:sp>
        <p:nvSpPr>
          <p:cNvPr id="16" name="Text 14"/>
          <p:cNvSpPr/>
          <p:nvPr/>
        </p:nvSpPr>
        <p:spPr>
          <a:xfrm>
            <a:off x="4627744" y="2380655"/>
            <a:ext cx="1710290" cy="170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kern="0" spc="67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FOR ANALYSTS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21087" y="2683966"/>
            <a:ext cx="3149521" cy="349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200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Evidence Workbench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521087" y="3328491"/>
            <a:ext cx="3149521" cy="3942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150" b="1" kern="0" spc="11" dirty="0">
                <a:solidFill>
                  <a:srgbClr val="0B1F3A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Semantic Exploration:</a:t>
            </a:r>
            <a:r>
              <a:rPr lang="en-US" sz="1150" kern="0" spc="11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 Natural language search across complex datasets.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521087" y="4027587"/>
            <a:ext cx="3149521" cy="3942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150" b="1" kern="0" spc="11" dirty="0">
                <a:solidFill>
                  <a:srgbClr val="0B1F3A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Grounded Synthesis:</a:t>
            </a:r>
            <a:r>
              <a:rPr lang="en-US" sz="1150" kern="0" spc="11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 Pre-compiled citations linking complaints to records.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21087" y="4726682"/>
            <a:ext cx="3149521" cy="3942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150" b="1" kern="0" spc="11" dirty="0">
                <a:solidFill>
                  <a:srgbClr val="0B1F3A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Deficit Analysis:</a:t>
            </a:r>
            <a:r>
              <a:rPr lang="en-US" sz="1150" kern="0" spc="11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 Rapid detection of systemic ward infrastructure failures.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178595" y="2086074"/>
            <a:ext cx="3555911" cy="38100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22" name="Shape 20"/>
          <p:cNvSpPr/>
          <p:nvPr/>
        </p:nvSpPr>
        <p:spPr>
          <a:xfrm>
            <a:off x="8381790" y="2327374"/>
            <a:ext cx="1914378" cy="277217"/>
          </a:xfrm>
          <a:prstGeom prst="roundRect">
            <a:avLst>
              <a:gd name="adj" fmla="val 4123"/>
            </a:avLst>
          </a:prstGeom>
          <a:solidFill>
            <a:srgbClr val="D4E3F7"/>
          </a:solidFill>
          <a:ln/>
        </p:spPr>
      </p:sp>
      <p:sp>
        <p:nvSpPr>
          <p:cNvPr id="23" name="Text 21"/>
          <p:cNvSpPr/>
          <p:nvPr/>
        </p:nvSpPr>
        <p:spPr>
          <a:xfrm>
            <a:off x="8488448" y="2380655"/>
            <a:ext cx="2310648" cy="170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kern="0" spc="67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FOR ADMINISTRATORS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381790" y="2683966"/>
            <a:ext cx="3149521" cy="349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200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Decision Governance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8381790" y="3328491"/>
            <a:ext cx="3149521" cy="3942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150" b="1" kern="0" spc="11" dirty="0">
                <a:solidFill>
                  <a:srgbClr val="0B1F3A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Geographic Patterns:</a:t>
            </a:r>
            <a:r>
              <a:rPr lang="en-US" sz="1150" kern="0" spc="11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 Cluster analysis identifying multi-ward bottlenecks.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381790" y="4027587"/>
            <a:ext cx="3149521" cy="3942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150" b="1" kern="0" spc="11" dirty="0">
                <a:solidFill>
                  <a:srgbClr val="0B1F3A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Explainable Signals:</a:t>
            </a:r>
            <a:r>
              <a:rPr lang="en-US" sz="1150" kern="0" spc="11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 Audit-ready priority rankings backed by public records.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381790" y="4726682"/>
            <a:ext cx="3149521" cy="3942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150" b="1" kern="0" spc="11" dirty="0">
                <a:solidFill>
                  <a:srgbClr val="0B1F3A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Resource Allocation:</a:t>
            </a:r>
            <a:r>
              <a:rPr lang="en-US" sz="1150" kern="0" spc="11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 Objective capital deployment defense for budgeting.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189" y="5949652"/>
            <a:ext cx="11277318" cy="451148"/>
          </a:xfrm>
          <a:prstGeom prst="rect">
            <a:avLst/>
          </a:prstGeom>
          <a:solidFill>
            <a:srgbClr val="FFD84A"/>
          </a:solidFill>
          <a:ln/>
        </p:spPr>
      </p:sp>
      <p:sp>
        <p:nvSpPr>
          <p:cNvPr id="29" name="Text 27"/>
          <p:cNvSpPr/>
          <p:nvPr/>
        </p:nvSpPr>
        <p:spPr>
          <a:xfrm>
            <a:off x="457189" y="6076652"/>
            <a:ext cx="11277318" cy="1971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1150" b="1" kern="0" spc="11" dirty="0">
                <a:solidFill>
                  <a:srgbClr val="000000"/>
                </a:solidFill>
                <a:latin typeface="IBM Plex Sans Bold" pitchFamily="34" charset="0"/>
                <a:ea typeface="IBM Plex Sans Bold" pitchFamily="34" charset="-122"/>
                <a:cs typeface="IBM Plex Sans Bold" pitchFamily="34" charset="-120"/>
              </a:rPr>
              <a:t>System Transformation:</a:t>
            </a:r>
            <a:r>
              <a:rPr lang="en-US" sz="1150" kern="0" spc="11" dirty="0">
                <a:solidFill>
                  <a:srgbClr val="000000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 Moves civic operations from reactive complaint collection to evidence-aware infrastructure analysis.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60383" y="3868837"/>
            <a:ext cx="3149521" cy="12700"/>
          </a:xfrm>
          <a:prstGeom prst="rect">
            <a:avLst/>
          </a:prstGeom>
          <a:solidFill>
            <a:srgbClr val="155EEF"/>
          </a:solidFill>
          <a:ln/>
        </p:spPr>
      </p:sp>
      <p:sp>
        <p:nvSpPr>
          <p:cNvPr id="31" name="Shape 29"/>
          <p:cNvSpPr/>
          <p:nvPr/>
        </p:nvSpPr>
        <p:spPr>
          <a:xfrm>
            <a:off x="660383" y="4567932"/>
            <a:ext cx="3149521" cy="12700"/>
          </a:xfrm>
          <a:prstGeom prst="rect">
            <a:avLst/>
          </a:prstGeom>
          <a:solidFill>
            <a:srgbClr val="155EEF"/>
          </a:solidFill>
          <a:ln/>
        </p:spPr>
      </p:sp>
      <p:sp>
        <p:nvSpPr>
          <p:cNvPr id="32" name="Shape 30"/>
          <p:cNvSpPr/>
          <p:nvPr/>
        </p:nvSpPr>
        <p:spPr>
          <a:xfrm>
            <a:off x="4521087" y="3868837"/>
            <a:ext cx="3149521" cy="12700"/>
          </a:xfrm>
          <a:prstGeom prst="rect">
            <a:avLst/>
          </a:prstGeom>
          <a:solidFill>
            <a:srgbClr val="155EEF"/>
          </a:solidFill>
          <a:ln/>
        </p:spPr>
      </p:sp>
      <p:sp>
        <p:nvSpPr>
          <p:cNvPr id="33" name="Shape 31"/>
          <p:cNvSpPr/>
          <p:nvPr/>
        </p:nvSpPr>
        <p:spPr>
          <a:xfrm>
            <a:off x="4521087" y="4567932"/>
            <a:ext cx="3149521" cy="12700"/>
          </a:xfrm>
          <a:prstGeom prst="rect">
            <a:avLst/>
          </a:prstGeom>
          <a:solidFill>
            <a:srgbClr val="155EEF"/>
          </a:solidFill>
          <a:ln/>
        </p:spPr>
      </p:sp>
      <p:sp>
        <p:nvSpPr>
          <p:cNvPr id="34" name="Shape 32"/>
          <p:cNvSpPr/>
          <p:nvPr/>
        </p:nvSpPr>
        <p:spPr>
          <a:xfrm>
            <a:off x="8381790" y="3868837"/>
            <a:ext cx="3149521" cy="12700"/>
          </a:xfrm>
          <a:prstGeom prst="rect">
            <a:avLst/>
          </a:prstGeom>
          <a:solidFill>
            <a:srgbClr val="155EEF"/>
          </a:solidFill>
          <a:ln/>
        </p:spPr>
      </p:sp>
      <p:sp>
        <p:nvSpPr>
          <p:cNvPr id="35" name="Shape 33"/>
          <p:cNvSpPr/>
          <p:nvPr/>
        </p:nvSpPr>
        <p:spPr>
          <a:xfrm>
            <a:off x="8381790" y="4567932"/>
            <a:ext cx="3149521" cy="12700"/>
          </a:xfrm>
          <a:prstGeom prst="rect">
            <a:avLst/>
          </a:prstGeom>
          <a:solidFill>
            <a:srgbClr val="155EEF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044330-004B-0286-26EB-8EA41ACB0CDF}"/>
              </a:ext>
            </a:extLst>
          </p:cNvPr>
          <p:cNvSpPr txBox="1"/>
          <p:nvPr/>
        </p:nvSpPr>
        <p:spPr>
          <a:xfrm>
            <a:off x="502920" y="658368"/>
            <a:ext cx="11064240" cy="590931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2A3644"/>
                </a:solidFill>
                <a:latin typeface="Aptos"/>
              </a:rPr>
              <a:t>One Platform, Multiple Civic Workflows.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9A90B4-207B-6265-606E-13FD8C83EB5C}"/>
              </a:ext>
            </a:extLst>
          </p:cNvPr>
          <p:cNvSpPr txBox="1"/>
          <p:nvPr/>
        </p:nvSpPr>
        <p:spPr>
          <a:xfrm>
            <a:off x="530352" y="1307592"/>
            <a:ext cx="10789920" cy="28315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2A3644"/>
                </a:solidFill>
                <a:latin typeface="Aptos"/>
              </a:rPr>
              <a:t>The current web app is organized around reporting, evidence exploration, issue discovery, priority insights and analytics.</a:t>
            </a:r>
          </a:p>
        </p:txBody>
      </p:sp>
      <p:sp>
        <p:nvSpPr>
          <p:cNvPr id="4" name="Rounded Rectangle 4">
            <a:extLst>
              <a:ext uri="{FF2B5EF4-FFF2-40B4-BE49-F238E27FC236}">
                <a16:creationId xmlns:a16="http://schemas.microsoft.com/office/drawing/2014/main" id="{A85825A6-29C5-53B7-338B-40DBE6284876}"/>
              </a:ext>
            </a:extLst>
          </p:cNvPr>
          <p:cNvSpPr/>
          <p:nvPr/>
        </p:nvSpPr>
        <p:spPr>
          <a:xfrm>
            <a:off x="502920" y="1874519"/>
            <a:ext cx="1115568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" name="Rounded Rectangle 5">
            <a:extLst>
              <a:ext uri="{FF2B5EF4-FFF2-40B4-BE49-F238E27FC236}">
                <a16:creationId xmlns:a16="http://schemas.microsoft.com/office/drawing/2014/main" id="{283DC58B-EBEA-148F-042C-4213194DB948}"/>
              </a:ext>
            </a:extLst>
          </p:cNvPr>
          <p:cNvSpPr/>
          <p:nvPr/>
        </p:nvSpPr>
        <p:spPr>
          <a:xfrm>
            <a:off x="502920" y="1874519"/>
            <a:ext cx="1115568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3FDA715-FE05-F6BF-2B82-5F94A961C41E}"/>
              </a:ext>
            </a:extLst>
          </p:cNvPr>
          <p:cNvSpPr/>
          <p:nvPr/>
        </p:nvSpPr>
        <p:spPr>
          <a:xfrm>
            <a:off x="502920" y="2167127"/>
            <a:ext cx="11155680" cy="91440"/>
          </a:xfrm>
          <a:prstGeom prst="rect">
            <a:avLst/>
          </a:prstGeom>
          <a:solidFill>
            <a:srgbClr val="FFFFFF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9B6FD22-D42E-753E-D27F-3D32AB229408}"/>
              </a:ext>
            </a:extLst>
          </p:cNvPr>
          <p:cNvSpPr/>
          <p:nvPr/>
        </p:nvSpPr>
        <p:spPr>
          <a:xfrm>
            <a:off x="649224" y="2002536"/>
            <a:ext cx="82296" cy="82296"/>
          </a:xfrm>
          <a:prstGeom prst="ellipse">
            <a:avLst/>
          </a:prstGeom>
          <a:solidFill>
            <a:srgbClr val="E16969"/>
          </a:solidFill>
          <a:ln>
            <a:solidFill>
              <a:srgbClr val="E169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A8EBD24F-6800-0048-EED5-1DD60AE5F029}"/>
              </a:ext>
            </a:extLst>
          </p:cNvPr>
          <p:cNvSpPr/>
          <p:nvPr/>
        </p:nvSpPr>
        <p:spPr>
          <a:xfrm>
            <a:off x="813816" y="2002536"/>
            <a:ext cx="82296" cy="82296"/>
          </a:xfrm>
          <a:prstGeom prst="ellipse">
            <a:avLst/>
          </a:prstGeom>
          <a:solidFill>
            <a:srgbClr val="FFD750"/>
          </a:solidFill>
          <a:ln>
            <a:solidFill>
              <a:srgbClr val="FFD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168CD82-5DA4-AA2D-C499-77179C6A2DA5}"/>
              </a:ext>
            </a:extLst>
          </p:cNvPr>
          <p:cNvSpPr/>
          <p:nvPr/>
        </p:nvSpPr>
        <p:spPr>
          <a:xfrm>
            <a:off x="978408" y="2002536"/>
            <a:ext cx="82296" cy="82296"/>
          </a:xfrm>
          <a:prstGeom prst="ellipse">
            <a:avLst/>
          </a:prstGeom>
          <a:solidFill>
            <a:srgbClr val="4BBE87"/>
          </a:solidFill>
          <a:ln>
            <a:solidFill>
              <a:srgbClr val="4BB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987262-D6E9-7896-5933-3DA6D300A42A}"/>
              </a:ext>
            </a:extLst>
          </p:cNvPr>
          <p:cNvSpPr txBox="1"/>
          <p:nvPr/>
        </p:nvSpPr>
        <p:spPr>
          <a:xfrm>
            <a:off x="1216152" y="1956815"/>
            <a:ext cx="10241280" cy="19851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 i="0">
                <a:solidFill>
                  <a:srgbClr val="2A3644"/>
                </a:solidFill>
                <a:latin typeface="Aptos"/>
              </a:rPr>
              <a:t>NagrikLens AI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795842-F8CA-C30D-6594-D65369A1C625}"/>
              </a:ext>
            </a:extLst>
          </p:cNvPr>
          <p:cNvSpPr/>
          <p:nvPr/>
        </p:nvSpPr>
        <p:spPr>
          <a:xfrm>
            <a:off x="502920" y="2258568"/>
            <a:ext cx="1828800" cy="3776472"/>
          </a:xfrm>
          <a:prstGeom prst="rect">
            <a:avLst/>
          </a:prstGeom>
          <a:solidFill>
            <a:srgbClr val="FFFFFF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227AB93-E1D4-C6F0-6194-6DF2BA9546A6}"/>
              </a:ext>
            </a:extLst>
          </p:cNvPr>
          <p:cNvSpPr txBox="1"/>
          <p:nvPr/>
        </p:nvSpPr>
        <p:spPr>
          <a:xfrm>
            <a:off x="667512" y="2441448"/>
            <a:ext cx="1499616" cy="3139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b="1" i="0">
                <a:solidFill>
                  <a:srgbClr val="2A3644"/>
                </a:solidFill>
                <a:latin typeface="Aptos"/>
              </a:rPr>
              <a:t>NagrikLens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5E3846-98BB-C754-6FCE-AD635000015B}"/>
              </a:ext>
            </a:extLst>
          </p:cNvPr>
          <p:cNvSpPr txBox="1"/>
          <p:nvPr/>
        </p:nvSpPr>
        <p:spPr>
          <a:xfrm>
            <a:off x="667512" y="2761488"/>
            <a:ext cx="1499616" cy="17543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2A3644"/>
                </a:solidFill>
                <a:latin typeface="Aptos"/>
              </a:rPr>
              <a:t>CIVIC INTELLIGENCE</a:t>
            </a:r>
          </a:p>
        </p:txBody>
      </p:sp>
      <p:sp>
        <p:nvSpPr>
          <p:cNvPr id="14" name="Rounded Rectangle 14">
            <a:extLst>
              <a:ext uri="{FF2B5EF4-FFF2-40B4-BE49-F238E27FC236}">
                <a16:creationId xmlns:a16="http://schemas.microsoft.com/office/drawing/2014/main" id="{24DADE62-EF42-C8F4-F9D7-BCE91C4754C3}"/>
              </a:ext>
            </a:extLst>
          </p:cNvPr>
          <p:cNvSpPr/>
          <p:nvPr/>
        </p:nvSpPr>
        <p:spPr>
          <a:xfrm>
            <a:off x="594360" y="3172968"/>
            <a:ext cx="1645920" cy="310896"/>
          </a:xfrm>
          <a:prstGeom prst="roundRect">
            <a:avLst>
              <a:gd name="adj" fmla="val 8000"/>
            </a:avLst>
          </a:prstGeom>
          <a:solidFill>
            <a:srgbClr val="006A61"/>
          </a:solidFill>
          <a:ln w="10160">
            <a:solidFill>
              <a:srgbClr val="006A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63F1A21-B609-7BA1-8698-0463EE930775}"/>
              </a:ext>
            </a:extLst>
          </p:cNvPr>
          <p:cNvSpPr txBox="1"/>
          <p:nvPr/>
        </p:nvSpPr>
        <p:spPr>
          <a:xfrm>
            <a:off x="731520" y="3236976"/>
            <a:ext cx="1508760" cy="190821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2A3644"/>
                </a:solidFill>
                <a:latin typeface="Aptos"/>
              </a:rPr>
              <a:t>Dashboard</a:t>
            </a:r>
          </a:p>
        </p:txBody>
      </p:sp>
      <p:sp>
        <p:nvSpPr>
          <p:cNvPr id="16" name="Rounded Rectangle 16">
            <a:extLst>
              <a:ext uri="{FF2B5EF4-FFF2-40B4-BE49-F238E27FC236}">
                <a16:creationId xmlns:a16="http://schemas.microsoft.com/office/drawing/2014/main" id="{4C5C75B5-495A-66D7-F51E-A36E1197C54C}"/>
              </a:ext>
            </a:extLst>
          </p:cNvPr>
          <p:cNvSpPr/>
          <p:nvPr/>
        </p:nvSpPr>
        <p:spPr>
          <a:xfrm>
            <a:off x="594360" y="3557016"/>
            <a:ext cx="1645920" cy="3108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618FC48-E3CB-B3AC-F63E-89C141D6CAB5}"/>
              </a:ext>
            </a:extLst>
          </p:cNvPr>
          <p:cNvSpPr txBox="1"/>
          <p:nvPr/>
        </p:nvSpPr>
        <p:spPr>
          <a:xfrm>
            <a:off x="731520" y="3621024"/>
            <a:ext cx="1508760" cy="190821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2A3644"/>
                </a:solidFill>
                <a:latin typeface="Aptos"/>
              </a:rPr>
              <a:t>Report Problem</a:t>
            </a:r>
          </a:p>
        </p:txBody>
      </p:sp>
      <p:sp>
        <p:nvSpPr>
          <p:cNvPr id="18" name="Rounded Rectangle 18">
            <a:extLst>
              <a:ext uri="{FF2B5EF4-FFF2-40B4-BE49-F238E27FC236}">
                <a16:creationId xmlns:a16="http://schemas.microsoft.com/office/drawing/2014/main" id="{F4B5A1CF-509F-3FCD-7D5B-CF3C8E10DD8B}"/>
              </a:ext>
            </a:extLst>
          </p:cNvPr>
          <p:cNvSpPr/>
          <p:nvPr/>
        </p:nvSpPr>
        <p:spPr>
          <a:xfrm>
            <a:off x="594360" y="3941064"/>
            <a:ext cx="1645920" cy="3108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7DE339E-D778-E2AE-2108-B21AB7CEDD6F}"/>
              </a:ext>
            </a:extLst>
          </p:cNvPr>
          <p:cNvSpPr txBox="1"/>
          <p:nvPr/>
        </p:nvSpPr>
        <p:spPr>
          <a:xfrm>
            <a:off x="731520" y="4005072"/>
            <a:ext cx="1508760" cy="190821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2A3644"/>
                </a:solidFill>
                <a:latin typeface="Aptos"/>
              </a:rPr>
              <a:t>Evidence Explorer</a:t>
            </a:r>
          </a:p>
        </p:txBody>
      </p:sp>
      <p:sp>
        <p:nvSpPr>
          <p:cNvPr id="20" name="Rounded Rectangle 20">
            <a:extLst>
              <a:ext uri="{FF2B5EF4-FFF2-40B4-BE49-F238E27FC236}">
                <a16:creationId xmlns:a16="http://schemas.microsoft.com/office/drawing/2014/main" id="{CE2F664C-3118-F69F-EC5A-72F11C92FE5E}"/>
              </a:ext>
            </a:extLst>
          </p:cNvPr>
          <p:cNvSpPr/>
          <p:nvPr/>
        </p:nvSpPr>
        <p:spPr>
          <a:xfrm>
            <a:off x="594360" y="4325112"/>
            <a:ext cx="1645920" cy="3108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F8768E1-DAAB-A146-5281-D74BAF7CC0D5}"/>
              </a:ext>
            </a:extLst>
          </p:cNvPr>
          <p:cNvSpPr txBox="1"/>
          <p:nvPr/>
        </p:nvSpPr>
        <p:spPr>
          <a:xfrm>
            <a:off x="731520" y="4389120"/>
            <a:ext cx="1508760" cy="190821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2A3644"/>
                </a:solidFill>
                <a:latin typeface="Aptos"/>
              </a:rPr>
              <a:t>Explore Issues</a:t>
            </a:r>
          </a:p>
        </p:txBody>
      </p:sp>
      <p:sp>
        <p:nvSpPr>
          <p:cNvPr id="22" name="Rounded Rectangle 22">
            <a:extLst>
              <a:ext uri="{FF2B5EF4-FFF2-40B4-BE49-F238E27FC236}">
                <a16:creationId xmlns:a16="http://schemas.microsoft.com/office/drawing/2014/main" id="{24B5DDCD-F404-C13A-0213-D8CC8563AE5A}"/>
              </a:ext>
            </a:extLst>
          </p:cNvPr>
          <p:cNvSpPr/>
          <p:nvPr/>
        </p:nvSpPr>
        <p:spPr>
          <a:xfrm>
            <a:off x="594360" y="4709160"/>
            <a:ext cx="1645920" cy="3108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48ECE34-3FC3-E8E7-4DB1-1FCBE61B4FC5}"/>
              </a:ext>
            </a:extLst>
          </p:cNvPr>
          <p:cNvSpPr txBox="1"/>
          <p:nvPr/>
        </p:nvSpPr>
        <p:spPr>
          <a:xfrm>
            <a:off x="731520" y="4773168"/>
            <a:ext cx="1508760" cy="190821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2A3644"/>
                </a:solidFill>
                <a:latin typeface="Aptos"/>
              </a:rPr>
              <a:t>Priority Insights</a:t>
            </a:r>
          </a:p>
        </p:txBody>
      </p:sp>
      <p:sp>
        <p:nvSpPr>
          <p:cNvPr id="24" name="Rounded Rectangle 24">
            <a:extLst>
              <a:ext uri="{FF2B5EF4-FFF2-40B4-BE49-F238E27FC236}">
                <a16:creationId xmlns:a16="http://schemas.microsoft.com/office/drawing/2014/main" id="{48D880FB-A9BE-5271-333C-DAA24BD2FF30}"/>
              </a:ext>
            </a:extLst>
          </p:cNvPr>
          <p:cNvSpPr/>
          <p:nvPr/>
        </p:nvSpPr>
        <p:spPr>
          <a:xfrm>
            <a:off x="594360" y="5093208"/>
            <a:ext cx="1645920" cy="3108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A4D5DCB-CD15-B25A-4C73-27E09EBB9C7F}"/>
              </a:ext>
            </a:extLst>
          </p:cNvPr>
          <p:cNvSpPr txBox="1"/>
          <p:nvPr/>
        </p:nvSpPr>
        <p:spPr>
          <a:xfrm>
            <a:off x="731520" y="5157216"/>
            <a:ext cx="1508760" cy="190821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2A3644"/>
                </a:solidFill>
                <a:latin typeface="Aptos"/>
              </a:rPr>
              <a:t>Data Sources</a:t>
            </a:r>
          </a:p>
        </p:txBody>
      </p:sp>
      <p:sp>
        <p:nvSpPr>
          <p:cNvPr id="26" name="Rounded Rectangle 26">
            <a:extLst>
              <a:ext uri="{FF2B5EF4-FFF2-40B4-BE49-F238E27FC236}">
                <a16:creationId xmlns:a16="http://schemas.microsoft.com/office/drawing/2014/main" id="{0FBBF6A4-ADA8-EE85-A5A3-47CF255413DF}"/>
              </a:ext>
            </a:extLst>
          </p:cNvPr>
          <p:cNvSpPr/>
          <p:nvPr/>
        </p:nvSpPr>
        <p:spPr>
          <a:xfrm>
            <a:off x="594360" y="5477256"/>
            <a:ext cx="1645920" cy="3108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F78C10D-705B-BB14-AB44-76EF9C671A83}"/>
              </a:ext>
            </a:extLst>
          </p:cNvPr>
          <p:cNvSpPr txBox="1"/>
          <p:nvPr/>
        </p:nvSpPr>
        <p:spPr>
          <a:xfrm>
            <a:off x="731520" y="5541264"/>
            <a:ext cx="1508760" cy="190821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2A3644"/>
                </a:solidFill>
                <a:latin typeface="Aptos"/>
              </a:rPr>
              <a:t>Analytics</a:t>
            </a:r>
          </a:p>
        </p:txBody>
      </p:sp>
      <p:sp>
        <p:nvSpPr>
          <p:cNvPr id="28" name="Rounded Rectangle 28">
            <a:extLst>
              <a:ext uri="{FF2B5EF4-FFF2-40B4-BE49-F238E27FC236}">
                <a16:creationId xmlns:a16="http://schemas.microsoft.com/office/drawing/2014/main" id="{CEDD073B-E7F9-8475-EE37-AAA6916514E3}"/>
              </a:ext>
            </a:extLst>
          </p:cNvPr>
          <p:cNvSpPr/>
          <p:nvPr/>
        </p:nvSpPr>
        <p:spPr>
          <a:xfrm>
            <a:off x="594360" y="5861304"/>
            <a:ext cx="1645920" cy="3108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5F8C720-0CC7-0865-0305-F8A34B9C3267}"/>
              </a:ext>
            </a:extLst>
          </p:cNvPr>
          <p:cNvSpPr txBox="1"/>
          <p:nvPr/>
        </p:nvSpPr>
        <p:spPr>
          <a:xfrm>
            <a:off x="731520" y="5925312"/>
            <a:ext cx="1508760" cy="190821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2A3644"/>
                </a:solidFill>
                <a:latin typeface="Aptos"/>
              </a:rPr>
              <a:t>My Reports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4E8A3B5-C017-743F-B4F1-0F4FA0CA3215}"/>
              </a:ext>
            </a:extLst>
          </p:cNvPr>
          <p:cNvSpPr txBox="1"/>
          <p:nvPr/>
        </p:nvSpPr>
        <p:spPr>
          <a:xfrm>
            <a:off x="2578608" y="2450592"/>
            <a:ext cx="2743200" cy="190821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2A3644"/>
                </a:solidFill>
                <a:latin typeface="Aptos"/>
              </a:rPr>
              <a:t>Public Intelligence Hub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518D22E-3D06-5765-191A-8EAF4F026052}"/>
              </a:ext>
            </a:extLst>
          </p:cNvPr>
          <p:cNvSpPr txBox="1"/>
          <p:nvPr/>
        </p:nvSpPr>
        <p:spPr>
          <a:xfrm>
            <a:off x="2578608" y="2743200"/>
            <a:ext cx="4937760" cy="775597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400" b="1" i="0" dirty="0">
                <a:solidFill>
                  <a:srgbClr val="2A3644"/>
                </a:solidFill>
                <a:latin typeface="Aptos"/>
              </a:rPr>
              <a:t>Community Infrastructure Overview</a:t>
            </a:r>
          </a:p>
        </p:txBody>
      </p:sp>
      <p:sp>
        <p:nvSpPr>
          <p:cNvPr id="32" name="Rounded Rectangle 32">
            <a:extLst>
              <a:ext uri="{FF2B5EF4-FFF2-40B4-BE49-F238E27FC236}">
                <a16:creationId xmlns:a16="http://schemas.microsoft.com/office/drawing/2014/main" id="{AD68D2CF-29D2-CD07-2B04-3DB1F738D9C4}"/>
              </a:ext>
            </a:extLst>
          </p:cNvPr>
          <p:cNvSpPr/>
          <p:nvPr/>
        </p:nvSpPr>
        <p:spPr>
          <a:xfrm>
            <a:off x="9921240" y="2487167"/>
            <a:ext cx="1234440" cy="449753"/>
          </a:xfrm>
          <a:prstGeom prst="roundRect">
            <a:avLst>
              <a:gd name="adj" fmla="val 8000"/>
            </a:avLst>
          </a:prstGeom>
          <a:solidFill>
            <a:srgbClr val="006A61"/>
          </a:solidFill>
          <a:ln w="10160">
            <a:solidFill>
              <a:srgbClr val="006A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861EA01-36C6-4976-228A-A7237AD8565A}"/>
              </a:ext>
            </a:extLst>
          </p:cNvPr>
          <p:cNvSpPr txBox="1"/>
          <p:nvPr/>
        </p:nvSpPr>
        <p:spPr>
          <a:xfrm>
            <a:off x="9976104" y="2528316"/>
            <a:ext cx="1124712" cy="34471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1000" b="1" i="0" dirty="0">
                <a:solidFill>
                  <a:schemeClr val="bg1"/>
                </a:solidFill>
                <a:latin typeface="Aptos"/>
              </a:rPr>
              <a:t>REPORT A PROBLEM</a:t>
            </a:r>
          </a:p>
        </p:txBody>
      </p:sp>
      <p:sp>
        <p:nvSpPr>
          <p:cNvPr id="34" name="Rounded Rectangle 34">
            <a:extLst>
              <a:ext uri="{FF2B5EF4-FFF2-40B4-BE49-F238E27FC236}">
                <a16:creationId xmlns:a16="http://schemas.microsoft.com/office/drawing/2014/main" id="{467D1411-8D5A-65C4-0CDA-D8333034DA8A}"/>
              </a:ext>
            </a:extLst>
          </p:cNvPr>
          <p:cNvSpPr/>
          <p:nvPr/>
        </p:nvSpPr>
        <p:spPr>
          <a:xfrm>
            <a:off x="2578608" y="3468751"/>
            <a:ext cx="1938528" cy="841248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82F12C2-C893-B6D7-BCE1-EDBFB0BAD308}"/>
              </a:ext>
            </a:extLst>
          </p:cNvPr>
          <p:cNvSpPr txBox="1"/>
          <p:nvPr/>
        </p:nvSpPr>
        <p:spPr>
          <a:xfrm>
            <a:off x="2715768" y="3456432"/>
            <a:ext cx="1645920" cy="19851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 i="0">
                <a:solidFill>
                  <a:srgbClr val="2A3644"/>
                </a:solidFill>
                <a:latin typeface="Aptos"/>
              </a:rPr>
              <a:t>Reports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C79505C-CFAF-B3E0-F352-EA09E7E08E7C}"/>
              </a:ext>
            </a:extLst>
          </p:cNvPr>
          <p:cNvSpPr txBox="1"/>
          <p:nvPr/>
        </p:nvSpPr>
        <p:spPr>
          <a:xfrm>
            <a:off x="2715768" y="3703320"/>
            <a:ext cx="1645920" cy="252377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1" i="0" dirty="0">
                <a:solidFill>
                  <a:srgbClr val="2A3644"/>
                </a:solidFill>
                <a:latin typeface="Aptos"/>
              </a:rPr>
              <a:t>Live records</a:t>
            </a:r>
          </a:p>
        </p:txBody>
      </p:sp>
      <p:sp>
        <p:nvSpPr>
          <p:cNvPr id="37" name="Rounded Rectangle 37">
            <a:extLst>
              <a:ext uri="{FF2B5EF4-FFF2-40B4-BE49-F238E27FC236}">
                <a16:creationId xmlns:a16="http://schemas.microsoft.com/office/drawing/2014/main" id="{89BF1B2A-50E5-9DE5-5D47-652C2147D7BF}"/>
              </a:ext>
            </a:extLst>
          </p:cNvPr>
          <p:cNvSpPr/>
          <p:nvPr/>
        </p:nvSpPr>
        <p:spPr>
          <a:xfrm>
            <a:off x="4773168" y="3468750"/>
            <a:ext cx="1938528" cy="841248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67BC3FF-09F8-BBC2-B6D0-6867F5BABA01}"/>
              </a:ext>
            </a:extLst>
          </p:cNvPr>
          <p:cNvSpPr txBox="1"/>
          <p:nvPr/>
        </p:nvSpPr>
        <p:spPr>
          <a:xfrm>
            <a:off x="4910328" y="3456432"/>
            <a:ext cx="1645920" cy="19851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 i="0" dirty="0">
                <a:solidFill>
                  <a:srgbClr val="2A3644"/>
                </a:solidFill>
                <a:latin typeface="Aptos"/>
              </a:rPr>
              <a:t>Evidence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4CD8350-94A7-6867-774D-D655A766CAFF}"/>
              </a:ext>
            </a:extLst>
          </p:cNvPr>
          <p:cNvSpPr txBox="1"/>
          <p:nvPr/>
        </p:nvSpPr>
        <p:spPr>
          <a:xfrm>
            <a:off x="4910328" y="3703320"/>
            <a:ext cx="1645920" cy="252377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2A3644"/>
                </a:solidFill>
                <a:latin typeface="Aptos"/>
              </a:rPr>
              <a:t>Verified sources</a:t>
            </a:r>
          </a:p>
        </p:txBody>
      </p:sp>
      <p:sp>
        <p:nvSpPr>
          <p:cNvPr id="40" name="Rounded Rectangle 40">
            <a:extLst>
              <a:ext uri="{FF2B5EF4-FFF2-40B4-BE49-F238E27FC236}">
                <a16:creationId xmlns:a16="http://schemas.microsoft.com/office/drawing/2014/main" id="{B3493D3F-D0B4-EE5E-C856-2D5C8FE38791}"/>
              </a:ext>
            </a:extLst>
          </p:cNvPr>
          <p:cNvSpPr/>
          <p:nvPr/>
        </p:nvSpPr>
        <p:spPr>
          <a:xfrm>
            <a:off x="6967727" y="3478078"/>
            <a:ext cx="1938528" cy="841248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DD7B92D-3562-417A-05A2-B4E70DAD83C9}"/>
              </a:ext>
            </a:extLst>
          </p:cNvPr>
          <p:cNvSpPr txBox="1"/>
          <p:nvPr/>
        </p:nvSpPr>
        <p:spPr>
          <a:xfrm>
            <a:off x="7104888" y="3456432"/>
            <a:ext cx="1645920" cy="19851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 i="0">
                <a:solidFill>
                  <a:srgbClr val="2A3644"/>
                </a:solidFill>
                <a:latin typeface="Aptos"/>
              </a:rPr>
              <a:t>Issues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DB4DD60-0F28-B150-0A31-77B80DEC0835}"/>
              </a:ext>
            </a:extLst>
          </p:cNvPr>
          <p:cNvSpPr txBox="1"/>
          <p:nvPr/>
        </p:nvSpPr>
        <p:spPr>
          <a:xfrm>
            <a:off x="7104888" y="3703320"/>
            <a:ext cx="1645920" cy="252377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2A3644"/>
                </a:solidFill>
                <a:latin typeface="Aptos"/>
              </a:rPr>
              <a:t>Geo-linked</a:t>
            </a:r>
          </a:p>
        </p:txBody>
      </p:sp>
      <p:sp>
        <p:nvSpPr>
          <p:cNvPr id="43" name="Rounded Rectangle 43">
            <a:extLst>
              <a:ext uri="{FF2B5EF4-FFF2-40B4-BE49-F238E27FC236}">
                <a16:creationId xmlns:a16="http://schemas.microsoft.com/office/drawing/2014/main" id="{A54ABB6C-7FFA-F81C-1F5A-718CA2AA4AAD}"/>
              </a:ext>
            </a:extLst>
          </p:cNvPr>
          <p:cNvSpPr/>
          <p:nvPr/>
        </p:nvSpPr>
        <p:spPr>
          <a:xfrm>
            <a:off x="9162288" y="3478081"/>
            <a:ext cx="1938528" cy="841248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19CC5E5-160F-1DBE-8FF0-CF1CE4BE20D1}"/>
              </a:ext>
            </a:extLst>
          </p:cNvPr>
          <p:cNvSpPr txBox="1"/>
          <p:nvPr/>
        </p:nvSpPr>
        <p:spPr>
          <a:xfrm>
            <a:off x="9299448" y="3456432"/>
            <a:ext cx="1645920" cy="19851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50" b="1" i="0">
                <a:solidFill>
                  <a:srgbClr val="2A3644"/>
                </a:solidFill>
                <a:latin typeface="Aptos"/>
              </a:rPr>
              <a:t>Priority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DAFDF56-4288-64D3-5CFD-575B11D7096A}"/>
              </a:ext>
            </a:extLst>
          </p:cNvPr>
          <p:cNvSpPr txBox="1"/>
          <p:nvPr/>
        </p:nvSpPr>
        <p:spPr>
          <a:xfrm>
            <a:off x="9299448" y="3703320"/>
            <a:ext cx="1645920" cy="252377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2A3644"/>
                </a:solidFill>
                <a:latin typeface="Aptos"/>
              </a:rPr>
              <a:t>Explainable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782576F-5A8C-308F-2073-B84DAA41B546}"/>
              </a:ext>
            </a:extLst>
          </p:cNvPr>
          <p:cNvSpPr txBox="1"/>
          <p:nvPr/>
        </p:nvSpPr>
        <p:spPr>
          <a:xfrm>
            <a:off x="2578608" y="4434840"/>
            <a:ext cx="3200400" cy="20621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2A3644"/>
                </a:solidFill>
                <a:latin typeface="Aptos"/>
              </a:rPr>
              <a:t>Five-stage intelligence pipeline</a:t>
            </a:r>
          </a:p>
        </p:txBody>
      </p:sp>
      <p:sp>
        <p:nvSpPr>
          <p:cNvPr id="47" name="Rounded Rectangle 47">
            <a:extLst>
              <a:ext uri="{FF2B5EF4-FFF2-40B4-BE49-F238E27FC236}">
                <a16:creationId xmlns:a16="http://schemas.microsoft.com/office/drawing/2014/main" id="{17589F2D-5BAC-BB57-B578-A910CA3640B3}"/>
              </a:ext>
            </a:extLst>
          </p:cNvPr>
          <p:cNvSpPr/>
          <p:nvPr/>
        </p:nvSpPr>
        <p:spPr>
          <a:xfrm>
            <a:off x="2578608" y="4828032"/>
            <a:ext cx="132588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5F138BF-A4FA-8FD0-6F7D-098D074EADF8}"/>
              </a:ext>
            </a:extLst>
          </p:cNvPr>
          <p:cNvSpPr txBox="1"/>
          <p:nvPr/>
        </p:nvSpPr>
        <p:spPr>
          <a:xfrm>
            <a:off x="2651760" y="4910328"/>
            <a:ext cx="274320" cy="17543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2A3644"/>
                </a:solidFill>
                <a:latin typeface="Aptos"/>
              </a:rPr>
              <a:t>01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1CE62AD-348F-4FB2-F4FD-C8B27C0F2941}"/>
              </a:ext>
            </a:extLst>
          </p:cNvPr>
          <p:cNvSpPr txBox="1"/>
          <p:nvPr/>
        </p:nvSpPr>
        <p:spPr>
          <a:xfrm>
            <a:off x="2898648" y="4910328"/>
            <a:ext cx="868680" cy="190821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1000" b="1" i="0">
                <a:solidFill>
                  <a:srgbClr val="2A3644"/>
                </a:solidFill>
                <a:latin typeface="Aptos"/>
              </a:rPr>
              <a:t>Report</a:t>
            </a:r>
          </a:p>
        </p:txBody>
      </p:sp>
      <p:cxnSp>
        <p:nvCxnSpPr>
          <p:cNvPr id="50" name="Connector 50">
            <a:extLst>
              <a:ext uri="{FF2B5EF4-FFF2-40B4-BE49-F238E27FC236}">
                <a16:creationId xmlns:a16="http://schemas.microsoft.com/office/drawing/2014/main" id="{A70971A9-C010-3332-F836-D6DBD9AC606B}"/>
              </a:ext>
            </a:extLst>
          </p:cNvPr>
          <p:cNvCxnSpPr>
            <a:cxnSpLocks/>
          </p:cNvCxnSpPr>
          <p:nvPr/>
        </p:nvCxnSpPr>
        <p:spPr>
          <a:xfrm>
            <a:off x="3904487" y="5111496"/>
            <a:ext cx="246889" cy="0"/>
          </a:xfrm>
          <a:prstGeom prst="line">
            <a:avLst/>
          </a:prstGeom>
          <a:ln w="12700">
            <a:solidFill>
              <a:srgbClr val="00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1">
            <a:extLst>
              <a:ext uri="{FF2B5EF4-FFF2-40B4-BE49-F238E27FC236}">
                <a16:creationId xmlns:a16="http://schemas.microsoft.com/office/drawing/2014/main" id="{D7320D41-8047-E75D-B0D5-527C13F938C7}"/>
              </a:ext>
            </a:extLst>
          </p:cNvPr>
          <p:cNvSpPr/>
          <p:nvPr/>
        </p:nvSpPr>
        <p:spPr>
          <a:xfrm>
            <a:off x="4224528" y="4828032"/>
            <a:ext cx="132588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C97A105-2DB4-42E6-321F-560AF14713EB}"/>
              </a:ext>
            </a:extLst>
          </p:cNvPr>
          <p:cNvSpPr txBox="1"/>
          <p:nvPr/>
        </p:nvSpPr>
        <p:spPr>
          <a:xfrm>
            <a:off x="4297680" y="4910328"/>
            <a:ext cx="274320" cy="17543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2A3644"/>
                </a:solidFill>
                <a:latin typeface="Aptos"/>
              </a:rPr>
              <a:t>02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5FFA548-6337-F10E-5CFD-C89E70D903F5}"/>
              </a:ext>
            </a:extLst>
          </p:cNvPr>
          <p:cNvSpPr txBox="1"/>
          <p:nvPr/>
        </p:nvSpPr>
        <p:spPr>
          <a:xfrm>
            <a:off x="4544568" y="4910328"/>
            <a:ext cx="868680" cy="190821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1000" b="1" i="0">
                <a:solidFill>
                  <a:srgbClr val="2A3644"/>
                </a:solidFill>
                <a:latin typeface="Aptos"/>
              </a:rPr>
              <a:t>Structure</a:t>
            </a:r>
          </a:p>
        </p:txBody>
      </p:sp>
      <p:cxnSp>
        <p:nvCxnSpPr>
          <p:cNvPr id="54" name="Connector 54">
            <a:extLst>
              <a:ext uri="{FF2B5EF4-FFF2-40B4-BE49-F238E27FC236}">
                <a16:creationId xmlns:a16="http://schemas.microsoft.com/office/drawing/2014/main" id="{91F894E4-2118-51D9-1304-F9E6046E0B53}"/>
              </a:ext>
            </a:extLst>
          </p:cNvPr>
          <p:cNvCxnSpPr>
            <a:cxnSpLocks/>
          </p:cNvCxnSpPr>
          <p:nvPr/>
        </p:nvCxnSpPr>
        <p:spPr>
          <a:xfrm>
            <a:off x="5550408" y="5111496"/>
            <a:ext cx="246888" cy="0"/>
          </a:xfrm>
          <a:prstGeom prst="line">
            <a:avLst/>
          </a:prstGeom>
          <a:ln w="12700">
            <a:solidFill>
              <a:srgbClr val="00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5">
            <a:extLst>
              <a:ext uri="{FF2B5EF4-FFF2-40B4-BE49-F238E27FC236}">
                <a16:creationId xmlns:a16="http://schemas.microsoft.com/office/drawing/2014/main" id="{516CBFEA-C19B-3681-5D1F-08C664315D42}"/>
              </a:ext>
            </a:extLst>
          </p:cNvPr>
          <p:cNvSpPr/>
          <p:nvPr/>
        </p:nvSpPr>
        <p:spPr>
          <a:xfrm>
            <a:off x="5870448" y="4828032"/>
            <a:ext cx="132588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8A2A970-4265-6AB6-2093-9EE465BBEDA5}"/>
              </a:ext>
            </a:extLst>
          </p:cNvPr>
          <p:cNvSpPr txBox="1"/>
          <p:nvPr/>
        </p:nvSpPr>
        <p:spPr>
          <a:xfrm>
            <a:off x="5943600" y="4910328"/>
            <a:ext cx="274320" cy="17543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2A3644"/>
                </a:solidFill>
                <a:latin typeface="Aptos"/>
              </a:rPr>
              <a:t>03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28B85E9-7ABC-1130-1888-6E378DA2FB45}"/>
              </a:ext>
            </a:extLst>
          </p:cNvPr>
          <p:cNvSpPr txBox="1"/>
          <p:nvPr/>
        </p:nvSpPr>
        <p:spPr>
          <a:xfrm>
            <a:off x="6190488" y="4910328"/>
            <a:ext cx="868680" cy="190821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1000" b="1" i="0">
                <a:solidFill>
                  <a:srgbClr val="2A3644"/>
                </a:solidFill>
                <a:latin typeface="Aptos"/>
              </a:rPr>
              <a:t>Retrieve</a:t>
            </a:r>
          </a:p>
        </p:txBody>
      </p:sp>
      <p:cxnSp>
        <p:nvCxnSpPr>
          <p:cNvPr id="58" name="Connector 58">
            <a:extLst>
              <a:ext uri="{FF2B5EF4-FFF2-40B4-BE49-F238E27FC236}">
                <a16:creationId xmlns:a16="http://schemas.microsoft.com/office/drawing/2014/main" id="{4A79DC83-B94F-B7D9-A380-118270E8ABE3}"/>
              </a:ext>
            </a:extLst>
          </p:cNvPr>
          <p:cNvCxnSpPr>
            <a:cxnSpLocks/>
          </p:cNvCxnSpPr>
          <p:nvPr/>
        </p:nvCxnSpPr>
        <p:spPr>
          <a:xfrm>
            <a:off x="7196328" y="5111496"/>
            <a:ext cx="246888" cy="0"/>
          </a:xfrm>
          <a:prstGeom prst="line">
            <a:avLst/>
          </a:prstGeom>
          <a:ln w="12700">
            <a:solidFill>
              <a:srgbClr val="00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ounded Rectangle 59">
            <a:extLst>
              <a:ext uri="{FF2B5EF4-FFF2-40B4-BE49-F238E27FC236}">
                <a16:creationId xmlns:a16="http://schemas.microsoft.com/office/drawing/2014/main" id="{D7C4E331-4112-5182-8D18-B283966DD9A7}"/>
              </a:ext>
            </a:extLst>
          </p:cNvPr>
          <p:cNvSpPr/>
          <p:nvPr/>
        </p:nvSpPr>
        <p:spPr>
          <a:xfrm>
            <a:off x="7516368" y="4828032"/>
            <a:ext cx="132588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368839D-C4E2-CDA6-AC42-64C5523DA3C7}"/>
              </a:ext>
            </a:extLst>
          </p:cNvPr>
          <p:cNvSpPr txBox="1"/>
          <p:nvPr/>
        </p:nvSpPr>
        <p:spPr>
          <a:xfrm>
            <a:off x="7589520" y="4910328"/>
            <a:ext cx="274320" cy="17543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2A3644"/>
                </a:solidFill>
                <a:latin typeface="Aptos"/>
              </a:rPr>
              <a:t>04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A3E3792-292D-D717-CD34-333BD8E3A62B}"/>
              </a:ext>
            </a:extLst>
          </p:cNvPr>
          <p:cNvSpPr txBox="1"/>
          <p:nvPr/>
        </p:nvSpPr>
        <p:spPr>
          <a:xfrm>
            <a:off x="7836408" y="4910328"/>
            <a:ext cx="868680" cy="190821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1000" b="1" i="0">
                <a:solidFill>
                  <a:srgbClr val="2A3644"/>
                </a:solidFill>
                <a:latin typeface="Aptos"/>
              </a:rPr>
              <a:t>Ground</a:t>
            </a:r>
          </a:p>
        </p:txBody>
      </p:sp>
      <p:cxnSp>
        <p:nvCxnSpPr>
          <p:cNvPr id="62" name="Connector 62">
            <a:extLst>
              <a:ext uri="{FF2B5EF4-FFF2-40B4-BE49-F238E27FC236}">
                <a16:creationId xmlns:a16="http://schemas.microsoft.com/office/drawing/2014/main" id="{EE699A9E-77D6-1F2F-4117-5EB61190596B}"/>
              </a:ext>
            </a:extLst>
          </p:cNvPr>
          <p:cNvCxnSpPr>
            <a:cxnSpLocks/>
          </p:cNvCxnSpPr>
          <p:nvPr/>
        </p:nvCxnSpPr>
        <p:spPr>
          <a:xfrm>
            <a:off x="8842248" y="5111496"/>
            <a:ext cx="246888" cy="0"/>
          </a:xfrm>
          <a:prstGeom prst="line">
            <a:avLst/>
          </a:prstGeom>
          <a:ln w="12700">
            <a:solidFill>
              <a:srgbClr val="00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ounded Rectangle 63">
            <a:extLst>
              <a:ext uri="{FF2B5EF4-FFF2-40B4-BE49-F238E27FC236}">
                <a16:creationId xmlns:a16="http://schemas.microsoft.com/office/drawing/2014/main" id="{39CA99AF-CEE9-4E83-5856-8DD7E46A39E1}"/>
              </a:ext>
            </a:extLst>
          </p:cNvPr>
          <p:cNvSpPr/>
          <p:nvPr/>
        </p:nvSpPr>
        <p:spPr>
          <a:xfrm>
            <a:off x="9162288" y="4828032"/>
            <a:ext cx="132588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C95436B-5EF9-9F03-EC51-6EB2939C0407}"/>
              </a:ext>
            </a:extLst>
          </p:cNvPr>
          <p:cNvSpPr txBox="1"/>
          <p:nvPr/>
        </p:nvSpPr>
        <p:spPr>
          <a:xfrm>
            <a:off x="9235440" y="4910328"/>
            <a:ext cx="274320" cy="17543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2A3644"/>
                </a:solidFill>
                <a:latin typeface="Aptos"/>
              </a:rPr>
              <a:t>05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F242335-DADF-43D6-11A3-952D8D3DB177}"/>
              </a:ext>
            </a:extLst>
          </p:cNvPr>
          <p:cNvSpPr txBox="1"/>
          <p:nvPr/>
        </p:nvSpPr>
        <p:spPr>
          <a:xfrm>
            <a:off x="9482328" y="4910328"/>
            <a:ext cx="868680" cy="190821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1000" b="1" i="0">
                <a:solidFill>
                  <a:srgbClr val="2A3644"/>
                </a:solidFill>
                <a:latin typeface="Aptos"/>
              </a:rPr>
              <a:t>Prioritize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A7CF0E5-EB99-A8B3-800A-FDE3A408B424}"/>
              </a:ext>
            </a:extLst>
          </p:cNvPr>
          <p:cNvSpPr txBox="1"/>
          <p:nvPr/>
        </p:nvSpPr>
        <p:spPr>
          <a:xfrm>
            <a:off x="2578608" y="5559552"/>
            <a:ext cx="8412480" cy="190821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2A3644"/>
                </a:solidFill>
                <a:latin typeface="Aptos"/>
              </a:rPr>
              <a:t>Dashboard • Reports • Evidence • Issues • Priority • Data Sources • Analytics</a:t>
            </a:r>
          </a:p>
        </p:txBody>
      </p:sp>
    </p:spTree>
    <p:extLst>
      <p:ext uri="{BB962C8B-B14F-4D97-AF65-F5344CB8AC3E}">
        <p14:creationId xmlns:p14="http://schemas.microsoft.com/office/powerpoint/2010/main" val="2225522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E700DC7-EA54-B504-3109-30C9C4554326}"/>
              </a:ext>
            </a:extLst>
          </p:cNvPr>
          <p:cNvSpPr txBox="1"/>
          <p:nvPr/>
        </p:nvSpPr>
        <p:spPr>
          <a:xfrm>
            <a:off x="502920" y="658368"/>
            <a:ext cx="11064240" cy="6400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2A3644"/>
                </a:solidFill>
                <a:latin typeface="Aptos"/>
              </a:rPr>
              <a:t>The Web App Connects Reports to Public Evidence.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E8210A-B734-0D87-4E55-7D11DB77E1EE}"/>
              </a:ext>
            </a:extLst>
          </p:cNvPr>
          <p:cNvSpPr txBox="1"/>
          <p:nvPr/>
        </p:nvSpPr>
        <p:spPr>
          <a:xfrm>
            <a:off x="530352" y="1307592"/>
            <a:ext cx="1078992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50" b="0" i="0">
                <a:solidFill>
                  <a:srgbClr val="2A3644"/>
                </a:solidFill>
                <a:latin typeface="Aptos"/>
              </a:rPr>
              <a:t>Evidence is surfaced as traceable records rather than as unsupported AI-generated claims.</a:t>
            </a:r>
          </a:p>
        </p:txBody>
      </p:sp>
      <p:sp>
        <p:nvSpPr>
          <p:cNvPr id="7" name="Rounded Rectangle 4">
            <a:extLst>
              <a:ext uri="{FF2B5EF4-FFF2-40B4-BE49-F238E27FC236}">
                <a16:creationId xmlns:a16="http://schemas.microsoft.com/office/drawing/2014/main" id="{1BD32FD2-4C93-BF34-C42D-BF20F377370E}"/>
              </a:ext>
            </a:extLst>
          </p:cNvPr>
          <p:cNvSpPr/>
          <p:nvPr/>
        </p:nvSpPr>
        <p:spPr>
          <a:xfrm>
            <a:off x="502920" y="1783080"/>
            <a:ext cx="11155680" cy="4389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5">
            <a:extLst>
              <a:ext uri="{FF2B5EF4-FFF2-40B4-BE49-F238E27FC236}">
                <a16:creationId xmlns:a16="http://schemas.microsoft.com/office/drawing/2014/main" id="{50FA8EF4-A536-06C7-B2FC-5098009A664F}"/>
              </a:ext>
            </a:extLst>
          </p:cNvPr>
          <p:cNvSpPr/>
          <p:nvPr/>
        </p:nvSpPr>
        <p:spPr>
          <a:xfrm>
            <a:off x="502920" y="1783080"/>
            <a:ext cx="1115568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F36B29A-0CFF-531A-B657-0224BB4CB782}"/>
              </a:ext>
            </a:extLst>
          </p:cNvPr>
          <p:cNvSpPr/>
          <p:nvPr/>
        </p:nvSpPr>
        <p:spPr>
          <a:xfrm>
            <a:off x="502920" y="2075688"/>
            <a:ext cx="11155680" cy="91440"/>
          </a:xfrm>
          <a:prstGeom prst="rect">
            <a:avLst/>
          </a:prstGeom>
          <a:solidFill>
            <a:srgbClr val="FFFFFF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44E19DC-9F45-ABF5-1DF5-B3F57C080A2B}"/>
              </a:ext>
            </a:extLst>
          </p:cNvPr>
          <p:cNvSpPr/>
          <p:nvPr/>
        </p:nvSpPr>
        <p:spPr>
          <a:xfrm>
            <a:off x="649224" y="1911095"/>
            <a:ext cx="82296" cy="82296"/>
          </a:xfrm>
          <a:prstGeom prst="ellipse">
            <a:avLst/>
          </a:prstGeom>
          <a:solidFill>
            <a:srgbClr val="E16969"/>
          </a:solidFill>
          <a:ln>
            <a:solidFill>
              <a:srgbClr val="E169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7CD3067-852F-5C78-CFEC-B3FA09CD0399}"/>
              </a:ext>
            </a:extLst>
          </p:cNvPr>
          <p:cNvSpPr/>
          <p:nvPr/>
        </p:nvSpPr>
        <p:spPr>
          <a:xfrm>
            <a:off x="813816" y="1911095"/>
            <a:ext cx="82296" cy="82296"/>
          </a:xfrm>
          <a:prstGeom prst="ellipse">
            <a:avLst/>
          </a:prstGeom>
          <a:solidFill>
            <a:srgbClr val="FFD750"/>
          </a:solidFill>
          <a:ln>
            <a:solidFill>
              <a:srgbClr val="FFD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ECE2A30-363E-5557-D534-057E7810C94D}"/>
              </a:ext>
            </a:extLst>
          </p:cNvPr>
          <p:cNvSpPr/>
          <p:nvPr/>
        </p:nvSpPr>
        <p:spPr>
          <a:xfrm>
            <a:off x="978408" y="1911095"/>
            <a:ext cx="82296" cy="82296"/>
          </a:xfrm>
          <a:prstGeom prst="ellipse">
            <a:avLst/>
          </a:prstGeom>
          <a:solidFill>
            <a:srgbClr val="4BBE87"/>
          </a:solidFill>
          <a:ln>
            <a:solidFill>
              <a:srgbClr val="4BB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E0D7CEB-C6FD-98A3-F19F-80D0991D8CBE}"/>
              </a:ext>
            </a:extLst>
          </p:cNvPr>
          <p:cNvSpPr txBox="1"/>
          <p:nvPr/>
        </p:nvSpPr>
        <p:spPr>
          <a:xfrm>
            <a:off x="1216152" y="1865376"/>
            <a:ext cx="10241280" cy="2011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2A3644"/>
                </a:solidFill>
                <a:latin typeface="Aptos"/>
              </a:rPr>
              <a:t>NagrikLens AI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52F2EF8-C39E-DDFF-5F2B-51D746C2211A}"/>
              </a:ext>
            </a:extLst>
          </p:cNvPr>
          <p:cNvSpPr/>
          <p:nvPr/>
        </p:nvSpPr>
        <p:spPr>
          <a:xfrm>
            <a:off x="502920" y="2167128"/>
            <a:ext cx="1828800" cy="4005072"/>
          </a:xfrm>
          <a:prstGeom prst="rect">
            <a:avLst/>
          </a:prstGeom>
          <a:solidFill>
            <a:srgbClr val="FFFFFF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0E6259E-CACA-BEAE-3998-BFF6DBA2C689}"/>
              </a:ext>
            </a:extLst>
          </p:cNvPr>
          <p:cNvSpPr txBox="1"/>
          <p:nvPr/>
        </p:nvSpPr>
        <p:spPr>
          <a:xfrm>
            <a:off x="667512" y="2350008"/>
            <a:ext cx="1499616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2A3644"/>
                </a:solidFill>
                <a:latin typeface="Aptos"/>
              </a:rPr>
              <a:t>NagrikLens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313D22E-52A2-911F-37BD-11AC636ADCB1}"/>
              </a:ext>
            </a:extLst>
          </p:cNvPr>
          <p:cNvSpPr txBox="1"/>
          <p:nvPr/>
        </p:nvSpPr>
        <p:spPr>
          <a:xfrm>
            <a:off x="667512" y="2670048"/>
            <a:ext cx="1499616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650" b="1" i="0">
                <a:solidFill>
                  <a:srgbClr val="2A3644"/>
                </a:solidFill>
                <a:latin typeface="Aptos"/>
              </a:rPr>
              <a:t>CIVIC INTELLIGENCE</a:t>
            </a:r>
          </a:p>
        </p:txBody>
      </p:sp>
      <p:sp>
        <p:nvSpPr>
          <p:cNvPr id="27" name="Rounded Rectangle 14">
            <a:extLst>
              <a:ext uri="{FF2B5EF4-FFF2-40B4-BE49-F238E27FC236}">
                <a16:creationId xmlns:a16="http://schemas.microsoft.com/office/drawing/2014/main" id="{A85945DC-5503-263F-559A-0C0B61B64AE3}"/>
              </a:ext>
            </a:extLst>
          </p:cNvPr>
          <p:cNvSpPr/>
          <p:nvPr/>
        </p:nvSpPr>
        <p:spPr>
          <a:xfrm>
            <a:off x="594360" y="3081528"/>
            <a:ext cx="1645920" cy="3108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7D08EA1-56E7-FF5B-082A-0556A01336C0}"/>
              </a:ext>
            </a:extLst>
          </p:cNvPr>
          <p:cNvSpPr txBox="1"/>
          <p:nvPr/>
        </p:nvSpPr>
        <p:spPr>
          <a:xfrm>
            <a:off x="731520" y="3145536"/>
            <a:ext cx="1508760" cy="1645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19" b="0" i="0">
                <a:solidFill>
                  <a:srgbClr val="2A3644"/>
                </a:solidFill>
                <a:latin typeface="Aptos"/>
              </a:rPr>
              <a:t>Dashboard</a:t>
            </a:r>
          </a:p>
        </p:txBody>
      </p:sp>
      <p:sp>
        <p:nvSpPr>
          <p:cNvPr id="31" name="Rounded Rectangle 16">
            <a:extLst>
              <a:ext uri="{FF2B5EF4-FFF2-40B4-BE49-F238E27FC236}">
                <a16:creationId xmlns:a16="http://schemas.microsoft.com/office/drawing/2014/main" id="{2394F763-4769-70D0-5F98-D6A888239638}"/>
              </a:ext>
            </a:extLst>
          </p:cNvPr>
          <p:cNvSpPr/>
          <p:nvPr/>
        </p:nvSpPr>
        <p:spPr>
          <a:xfrm>
            <a:off x="594360" y="3465576"/>
            <a:ext cx="1645920" cy="3108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E5F2852-C30B-8F58-65A4-F722FCE246E3}"/>
              </a:ext>
            </a:extLst>
          </p:cNvPr>
          <p:cNvSpPr txBox="1"/>
          <p:nvPr/>
        </p:nvSpPr>
        <p:spPr>
          <a:xfrm>
            <a:off x="731520" y="3529584"/>
            <a:ext cx="1508760" cy="1645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19" b="0" i="0">
                <a:solidFill>
                  <a:srgbClr val="2A3644"/>
                </a:solidFill>
                <a:latin typeface="Aptos"/>
              </a:rPr>
              <a:t>Report Problem</a:t>
            </a:r>
          </a:p>
        </p:txBody>
      </p:sp>
      <p:sp>
        <p:nvSpPr>
          <p:cNvPr id="35" name="Rounded Rectangle 18">
            <a:extLst>
              <a:ext uri="{FF2B5EF4-FFF2-40B4-BE49-F238E27FC236}">
                <a16:creationId xmlns:a16="http://schemas.microsoft.com/office/drawing/2014/main" id="{CF8134FF-E218-9961-4339-70C85BF24FCE}"/>
              </a:ext>
            </a:extLst>
          </p:cNvPr>
          <p:cNvSpPr/>
          <p:nvPr/>
        </p:nvSpPr>
        <p:spPr>
          <a:xfrm>
            <a:off x="594360" y="3849624"/>
            <a:ext cx="1645920" cy="310896"/>
          </a:xfrm>
          <a:prstGeom prst="roundRect">
            <a:avLst>
              <a:gd name="adj" fmla="val 8000"/>
            </a:avLst>
          </a:prstGeom>
          <a:solidFill>
            <a:srgbClr val="006A61"/>
          </a:solidFill>
          <a:ln w="10160">
            <a:solidFill>
              <a:srgbClr val="006A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0DBB848-CAC5-E680-F697-DE6DFF3AA54B}"/>
              </a:ext>
            </a:extLst>
          </p:cNvPr>
          <p:cNvSpPr txBox="1"/>
          <p:nvPr/>
        </p:nvSpPr>
        <p:spPr>
          <a:xfrm>
            <a:off x="731520" y="3913632"/>
            <a:ext cx="1508760" cy="1645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19" b="1" i="0">
                <a:solidFill>
                  <a:srgbClr val="2A3644"/>
                </a:solidFill>
                <a:latin typeface="Aptos"/>
              </a:rPr>
              <a:t>Evidence Explorer</a:t>
            </a:r>
          </a:p>
        </p:txBody>
      </p:sp>
      <p:sp>
        <p:nvSpPr>
          <p:cNvPr id="39" name="Rounded Rectangle 20">
            <a:extLst>
              <a:ext uri="{FF2B5EF4-FFF2-40B4-BE49-F238E27FC236}">
                <a16:creationId xmlns:a16="http://schemas.microsoft.com/office/drawing/2014/main" id="{EFEE50A3-2F69-2F4E-F470-71C823016CE3}"/>
              </a:ext>
            </a:extLst>
          </p:cNvPr>
          <p:cNvSpPr/>
          <p:nvPr/>
        </p:nvSpPr>
        <p:spPr>
          <a:xfrm>
            <a:off x="594360" y="4233672"/>
            <a:ext cx="1645920" cy="3108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72080D6-DAC7-EAA2-0941-BA25375C268E}"/>
              </a:ext>
            </a:extLst>
          </p:cNvPr>
          <p:cNvSpPr txBox="1"/>
          <p:nvPr/>
        </p:nvSpPr>
        <p:spPr>
          <a:xfrm>
            <a:off x="731520" y="4297680"/>
            <a:ext cx="1508760" cy="1645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19" b="0" i="0">
                <a:solidFill>
                  <a:srgbClr val="2A3644"/>
                </a:solidFill>
                <a:latin typeface="Aptos"/>
              </a:rPr>
              <a:t>Explore Issues</a:t>
            </a:r>
          </a:p>
        </p:txBody>
      </p:sp>
      <p:sp>
        <p:nvSpPr>
          <p:cNvPr id="43" name="Rounded Rectangle 22">
            <a:extLst>
              <a:ext uri="{FF2B5EF4-FFF2-40B4-BE49-F238E27FC236}">
                <a16:creationId xmlns:a16="http://schemas.microsoft.com/office/drawing/2014/main" id="{74681CFA-C38B-6577-3454-27E37FCBED13}"/>
              </a:ext>
            </a:extLst>
          </p:cNvPr>
          <p:cNvSpPr/>
          <p:nvPr/>
        </p:nvSpPr>
        <p:spPr>
          <a:xfrm>
            <a:off x="594360" y="4617720"/>
            <a:ext cx="1645920" cy="3108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96C37F1-4925-F5CF-3C16-D9CF99330BE8}"/>
              </a:ext>
            </a:extLst>
          </p:cNvPr>
          <p:cNvSpPr txBox="1"/>
          <p:nvPr/>
        </p:nvSpPr>
        <p:spPr>
          <a:xfrm>
            <a:off x="731520" y="4681728"/>
            <a:ext cx="1508760" cy="1645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19" b="0" i="0">
                <a:solidFill>
                  <a:srgbClr val="2A3644"/>
                </a:solidFill>
                <a:latin typeface="Aptos"/>
              </a:rPr>
              <a:t>Priority Insights</a:t>
            </a:r>
          </a:p>
        </p:txBody>
      </p:sp>
      <p:sp>
        <p:nvSpPr>
          <p:cNvPr id="47" name="Rounded Rectangle 24">
            <a:extLst>
              <a:ext uri="{FF2B5EF4-FFF2-40B4-BE49-F238E27FC236}">
                <a16:creationId xmlns:a16="http://schemas.microsoft.com/office/drawing/2014/main" id="{44F6A5A8-5783-55D0-EB53-F95C59813B35}"/>
              </a:ext>
            </a:extLst>
          </p:cNvPr>
          <p:cNvSpPr/>
          <p:nvPr/>
        </p:nvSpPr>
        <p:spPr>
          <a:xfrm>
            <a:off x="594360" y="5001768"/>
            <a:ext cx="1645920" cy="3108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2DCAB7C-C9CD-5841-BB6E-9A5202E24638}"/>
              </a:ext>
            </a:extLst>
          </p:cNvPr>
          <p:cNvSpPr txBox="1"/>
          <p:nvPr/>
        </p:nvSpPr>
        <p:spPr>
          <a:xfrm>
            <a:off x="731520" y="5065776"/>
            <a:ext cx="1508760" cy="1645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19" b="0" i="0">
                <a:solidFill>
                  <a:srgbClr val="2A3644"/>
                </a:solidFill>
                <a:latin typeface="Aptos"/>
              </a:rPr>
              <a:t>Data Sources</a:t>
            </a:r>
          </a:p>
        </p:txBody>
      </p:sp>
      <p:sp>
        <p:nvSpPr>
          <p:cNvPr id="51" name="Rounded Rectangle 26">
            <a:extLst>
              <a:ext uri="{FF2B5EF4-FFF2-40B4-BE49-F238E27FC236}">
                <a16:creationId xmlns:a16="http://schemas.microsoft.com/office/drawing/2014/main" id="{99EA26E5-20D3-FE8E-0BA5-B3803032C76D}"/>
              </a:ext>
            </a:extLst>
          </p:cNvPr>
          <p:cNvSpPr/>
          <p:nvPr/>
        </p:nvSpPr>
        <p:spPr>
          <a:xfrm>
            <a:off x="594360" y="5385816"/>
            <a:ext cx="1645920" cy="3108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C953950-39E8-E5F0-F727-B0943B166ABB}"/>
              </a:ext>
            </a:extLst>
          </p:cNvPr>
          <p:cNvSpPr txBox="1"/>
          <p:nvPr/>
        </p:nvSpPr>
        <p:spPr>
          <a:xfrm>
            <a:off x="731520" y="5449824"/>
            <a:ext cx="1508760" cy="1645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19" b="0" i="0">
                <a:solidFill>
                  <a:srgbClr val="2A3644"/>
                </a:solidFill>
                <a:latin typeface="Aptos"/>
              </a:rPr>
              <a:t>Analytics</a:t>
            </a:r>
          </a:p>
        </p:txBody>
      </p:sp>
      <p:sp>
        <p:nvSpPr>
          <p:cNvPr id="55" name="Rounded Rectangle 28">
            <a:extLst>
              <a:ext uri="{FF2B5EF4-FFF2-40B4-BE49-F238E27FC236}">
                <a16:creationId xmlns:a16="http://schemas.microsoft.com/office/drawing/2014/main" id="{C390D36B-6A8A-249E-4C83-76CFBCE4F49C}"/>
              </a:ext>
            </a:extLst>
          </p:cNvPr>
          <p:cNvSpPr/>
          <p:nvPr/>
        </p:nvSpPr>
        <p:spPr>
          <a:xfrm>
            <a:off x="594360" y="5769864"/>
            <a:ext cx="1645920" cy="3108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5DA97E5-136F-A31D-45E8-013491FED687}"/>
              </a:ext>
            </a:extLst>
          </p:cNvPr>
          <p:cNvSpPr txBox="1"/>
          <p:nvPr/>
        </p:nvSpPr>
        <p:spPr>
          <a:xfrm>
            <a:off x="731520" y="5833872"/>
            <a:ext cx="1508760" cy="1645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19" b="0" i="0">
                <a:solidFill>
                  <a:srgbClr val="2A3644"/>
                </a:solidFill>
                <a:latin typeface="Aptos"/>
              </a:rPr>
              <a:t>My Reports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5CFABCF-11C2-347D-F0AD-5F14E74E930B}"/>
              </a:ext>
            </a:extLst>
          </p:cNvPr>
          <p:cNvSpPr txBox="1"/>
          <p:nvPr/>
        </p:nvSpPr>
        <p:spPr>
          <a:xfrm>
            <a:off x="2578608" y="2395728"/>
            <a:ext cx="274320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2A3644"/>
                </a:solidFill>
                <a:latin typeface="Aptos"/>
              </a:rPr>
              <a:t>Evidence Explorer</a:t>
            </a:r>
          </a:p>
        </p:txBody>
      </p:sp>
      <p:sp>
        <p:nvSpPr>
          <p:cNvPr id="61" name="Rounded Rectangle 31">
            <a:extLst>
              <a:ext uri="{FF2B5EF4-FFF2-40B4-BE49-F238E27FC236}">
                <a16:creationId xmlns:a16="http://schemas.microsoft.com/office/drawing/2014/main" id="{9E527699-5215-547C-13A0-D75BA3C31FEB}"/>
              </a:ext>
            </a:extLst>
          </p:cNvPr>
          <p:cNvSpPr/>
          <p:nvPr/>
        </p:nvSpPr>
        <p:spPr>
          <a:xfrm>
            <a:off x="2578608" y="2852928"/>
            <a:ext cx="8092440" cy="438912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C7C2973-D889-0839-CFC9-7E487D6CECBA}"/>
              </a:ext>
            </a:extLst>
          </p:cNvPr>
          <p:cNvSpPr txBox="1"/>
          <p:nvPr/>
        </p:nvSpPr>
        <p:spPr>
          <a:xfrm>
            <a:off x="2788920" y="2971800"/>
            <a:ext cx="704088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2A3644"/>
                </a:solidFill>
                <a:latin typeface="Aptos"/>
              </a:rPr>
              <a:t>Search public evidence for: water access / Dharashiv / households</a:t>
            </a:r>
          </a:p>
        </p:txBody>
      </p:sp>
      <p:sp>
        <p:nvSpPr>
          <p:cNvPr id="65" name="Rounded Rectangle 33">
            <a:extLst>
              <a:ext uri="{FF2B5EF4-FFF2-40B4-BE49-F238E27FC236}">
                <a16:creationId xmlns:a16="http://schemas.microsoft.com/office/drawing/2014/main" id="{DF0D23ED-CAC8-EB01-2CF2-A2D952C2E88C}"/>
              </a:ext>
            </a:extLst>
          </p:cNvPr>
          <p:cNvSpPr/>
          <p:nvPr/>
        </p:nvSpPr>
        <p:spPr>
          <a:xfrm>
            <a:off x="9738360" y="2935224"/>
            <a:ext cx="713232" cy="274320"/>
          </a:xfrm>
          <a:prstGeom prst="roundRect">
            <a:avLst>
              <a:gd name="adj" fmla="val 8000"/>
            </a:avLst>
          </a:prstGeom>
          <a:solidFill>
            <a:srgbClr val="006A61"/>
          </a:solidFill>
          <a:ln w="10160">
            <a:solidFill>
              <a:srgbClr val="006A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A021C2E-7D2E-35DC-4264-30488E9583C2}"/>
              </a:ext>
            </a:extLst>
          </p:cNvPr>
          <p:cNvSpPr txBox="1"/>
          <p:nvPr/>
        </p:nvSpPr>
        <p:spPr>
          <a:xfrm>
            <a:off x="9793224" y="2976372"/>
            <a:ext cx="603504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850" b="1" i="0">
                <a:solidFill>
                  <a:srgbClr val="2A3644"/>
                </a:solidFill>
                <a:latin typeface="Aptos"/>
              </a:rPr>
              <a:t>SEARCH</a:t>
            </a:r>
          </a:p>
        </p:txBody>
      </p:sp>
      <p:sp>
        <p:nvSpPr>
          <p:cNvPr id="69" name="Rounded Rectangle 35">
            <a:extLst>
              <a:ext uri="{FF2B5EF4-FFF2-40B4-BE49-F238E27FC236}">
                <a16:creationId xmlns:a16="http://schemas.microsoft.com/office/drawing/2014/main" id="{974E370E-7660-0EE5-D2EB-AC92DA83C390}"/>
              </a:ext>
            </a:extLst>
          </p:cNvPr>
          <p:cNvSpPr/>
          <p:nvPr/>
        </p:nvSpPr>
        <p:spPr>
          <a:xfrm>
            <a:off x="2578608" y="3493008"/>
            <a:ext cx="809244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36">
            <a:extLst>
              <a:ext uri="{FF2B5EF4-FFF2-40B4-BE49-F238E27FC236}">
                <a16:creationId xmlns:a16="http://schemas.microsoft.com/office/drawing/2014/main" id="{29B55905-3B4A-485D-0FBD-B122FD35698F}"/>
              </a:ext>
            </a:extLst>
          </p:cNvPr>
          <p:cNvSpPr/>
          <p:nvPr/>
        </p:nvSpPr>
        <p:spPr>
          <a:xfrm>
            <a:off x="2743200" y="3639312"/>
            <a:ext cx="1051560" cy="2743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0160">
            <a:solidFill>
              <a:srgbClr val="EF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11DD957-5F4F-C74E-C0E8-254BE6D5D956}"/>
              </a:ext>
            </a:extLst>
          </p:cNvPr>
          <p:cNvSpPr txBox="1"/>
          <p:nvPr/>
        </p:nvSpPr>
        <p:spPr>
          <a:xfrm>
            <a:off x="2798064" y="3680460"/>
            <a:ext cx="941831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850" b="1" i="0">
                <a:solidFill>
                  <a:srgbClr val="2A3644"/>
                </a:solidFill>
                <a:latin typeface="Aptos"/>
              </a:rPr>
              <a:t>PUBLIC DATA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0C210D3-CCAC-3B2F-96B9-C3EE67E2042F}"/>
              </a:ext>
            </a:extLst>
          </p:cNvPr>
          <p:cNvSpPr txBox="1"/>
          <p:nvPr/>
        </p:nvSpPr>
        <p:spPr>
          <a:xfrm>
            <a:off x="3977639" y="3602736"/>
            <a:ext cx="283464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2A3644"/>
                </a:solidFill>
                <a:latin typeface="Aptos"/>
              </a:rPr>
              <a:t>Water infrastructure record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CB8266A-75F7-2666-BF8D-97CCBC023309}"/>
              </a:ext>
            </a:extLst>
          </p:cNvPr>
          <p:cNvSpPr txBox="1"/>
          <p:nvPr/>
        </p:nvSpPr>
        <p:spPr>
          <a:xfrm>
            <a:off x="6629400" y="3602736"/>
            <a:ext cx="361188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19" b="0" i="0">
                <a:solidFill>
                  <a:srgbClr val="2A3644"/>
                </a:solidFill>
                <a:latin typeface="Aptos"/>
              </a:rPr>
              <a:t>Dataset • Geography • Reporting period</a:t>
            </a:r>
          </a:p>
        </p:txBody>
      </p:sp>
      <p:sp>
        <p:nvSpPr>
          <p:cNvPr id="79" name="Rounded Rectangle 40">
            <a:extLst>
              <a:ext uri="{FF2B5EF4-FFF2-40B4-BE49-F238E27FC236}">
                <a16:creationId xmlns:a16="http://schemas.microsoft.com/office/drawing/2014/main" id="{8A411B73-6804-5921-A92A-45B92881994A}"/>
              </a:ext>
            </a:extLst>
          </p:cNvPr>
          <p:cNvSpPr/>
          <p:nvPr/>
        </p:nvSpPr>
        <p:spPr>
          <a:xfrm>
            <a:off x="2578608" y="4206240"/>
            <a:ext cx="809244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ounded Rectangle 41">
            <a:extLst>
              <a:ext uri="{FF2B5EF4-FFF2-40B4-BE49-F238E27FC236}">
                <a16:creationId xmlns:a16="http://schemas.microsoft.com/office/drawing/2014/main" id="{AA0FDF49-0B09-4416-A40C-F0FBCB5FF1EA}"/>
              </a:ext>
            </a:extLst>
          </p:cNvPr>
          <p:cNvSpPr/>
          <p:nvPr/>
        </p:nvSpPr>
        <p:spPr>
          <a:xfrm>
            <a:off x="2743200" y="4352544"/>
            <a:ext cx="1051560" cy="2743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0160">
            <a:solidFill>
              <a:srgbClr val="EF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E1B083E-D709-BFE8-8C70-E125B74F4800}"/>
              </a:ext>
            </a:extLst>
          </p:cNvPr>
          <p:cNvSpPr txBox="1"/>
          <p:nvPr/>
        </p:nvSpPr>
        <p:spPr>
          <a:xfrm>
            <a:off x="2798064" y="4393692"/>
            <a:ext cx="941831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850" b="1" i="0">
                <a:solidFill>
                  <a:srgbClr val="2A3644"/>
                </a:solidFill>
                <a:latin typeface="Aptos"/>
              </a:rPr>
              <a:t>OPEN SOURCE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4C97F3F-8F03-7DD7-907B-27B6E5D1D7B4}"/>
              </a:ext>
            </a:extLst>
          </p:cNvPr>
          <p:cNvSpPr txBox="1"/>
          <p:nvPr/>
        </p:nvSpPr>
        <p:spPr>
          <a:xfrm>
            <a:off x="3977639" y="4315968"/>
            <a:ext cx="283464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2A3644"/>
                </a:solidFill>
                <a:latin typeface="Aptos"/>
              </a:rPr>
              <a:t>Household coverage evidence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661C01B-1041-C369-ABF5-60986AF5D759}"/>
              </a:ext>
            </a:extLst>
          </p:cNvPr>
          <p:cNvSpPr txBox="1"/>
          <p:nvPr/>
        </p:nvSpPr>
        <p:spPr>
          <a:xfrm>
            <a:off x="6629400" y="4315968"/>
            <a:ext cx="361188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19" b="0" i="0">
                <a:solidFill>
                  <a:srgbClr val="2A3644"/>
                </a:solidFill>
                <a:latin typeface="Aptos"/>
              </a:rPr>
              <a:t>Source organization • Dataset ID • URL</a:t>
            </a:r>
          </a:p>
        </p:txBody>
      </p:sp>
      <p:sp>
        <p:nvSpPr>
          <p:cNvPr id="89" name="Rounded Rectangle 45">
            <a:extLst>
              <a:ext uri="{FF2B5EF4-FFF2-40B4-BE49-F238E27FC236}">
                <a16:creationId xmlns:a16="http://schemas.microsoft.com/office/drawing/2014/main" id="{F3D40E70-C7DD-DA20-C51A-4193A78C2358}"/>
              </a:ext>
            </a:extLst>
          </p:cNvPr>
          <p:cNvSpPr/>
          <p:nvPr/>
        </p:nvSpPr>
        <p:spPr>
          <a:xfrm>
            <a:off x="2578608" y="4919472"/>
            <a:ext cx="809244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ounded Rectangle 46">
            <a:extLst>
              <a:ext uri="{FF2B5EF4-FFF2-40B4-BE49-F238E27FC236}">
                <a16:creationId xmlns:a16="http://schemas.microsoft.com/office/drawing/2014/main" id="{3C3D2D1C-5515-59D6-EFEC-72EC538345B3}"/>
              </a:ext>
            </a:extLst>
          </p:cNvPr>
          <p:cNvSpPr/>
          <p:nvPr/>
        </p:nvSpPr>
        <p:spPr>
          <a:xfrm>
            <a:off x="2743200" y="5065776"/>
            <a:ext cx="1051560" cy="2743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0160">
            <a:solidFill>
              <a:srgbClr val="EF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63B2DA5-5A1E-A733-A543-4C68530D026F}"/>
              </a:ext>
            </a:extLst>
          </p:cNvPr>
          <p:cNvSpPr txBox="1"/>
          <p:nvPr/>
        </p:nvSpPr>
        <p:spPr>
          <a:xfrm>
            <a:off x="2798064" y="5106924"/>
            <a:ext cx="941831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850" b="1" i="0">
                <a:solidFill>
                  <a:srgbClr val="2A3644"/>
                </a:solidFill>
                <a:latin typeface="Aptos"/>
              </a:rPr>
              <a:t>VERIFIED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69708735-7279-FAA9-2741-7F0706A7CAF0}"/>
              </a:ext>
            </a:extLst>
          </p:cNvPr>
          <p:cNvSpPr txBox="1"/>
          <p:nvPr/>
        </p:nvSpPr>
        <p:spPr>
          <a:xfrm>
            <a:off x="3977639" y="5029200"/>
            <a:ext cx="283464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2A3644"/>
                </a:solidFill>
                <a:latin typeface="Aptos"/>
              </a:rPr>
              <a:t>Relevant supporting record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8F7C8A30-1150-F1AD-E305-DE39D8B25B94}"/>
              </a:ext>
            </a:extLst>
          </p:cNvPr>
          <p:cNvSpPr txBox="1"/>
          <p:nvPr/>
        </p:nvSpPr>
        <p:spPr>
          <a:xfrm>
            <a:off x="6629400" y="5029200"/>
            <a:ext cx="361188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19" b="0" i="0">
                <a:solidFill>
                  <a:srgbClr val="2A3644"/>
                </a:solidFill>
                <a:latin typeface="Aptos"/>
              </a:rPr>
              <a:t>Verification status • Updated timestamp</a:t>
            </a:r>
          </a:p>
        </p:txBody>
      </p:sp>
      <p:sp>
        <p:nvSpPr>
          <p:cNvPr id="99" name="Rounded Rectangle 50">
            <a:extLst>
              <a:ext uri="{FF2B5EF4-FFF2-40B4-BE49-F238E27FC236}">
                <a16:creationId xmlns:a16="http://schemas.microsoft.com/office/drawing/2014/main" id="{851CA67D-BAC4-C3A1-3D2D-A0F9B5A7FC00}"/>
              </a:ext>
            </a:extLst>
          </p:cNvPr>
          <p:cNvSpPr/>
          <p:nvPr/>
        </p:nvSpPr>
        <p:spPr>
          <a:xfrm>
            <a:off x="10881360" y="2852928"/>
            <a:ext cx="475488" cy="278892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DA7A51B8-A173-B52C-96CE-AC4ECCACDD88}"/>
              </a:ext>
            </a:extLst>
          </p:cNvPr>
          <p:cNvSpPr txBox="1"/>
          <p:nvPr/>
        </p:nvSpPr>
        <p:spPr>
          <a:xfrm>
            <a:off x="10972800" y="3063240"/>
            <a:ext cx="292608" cy="7772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700" b="1" i="0">
                <a:solidFill>
                  <a:srgbClr val="2A3644"/>
                </a:solidFill>
                <a:latin typeface="Aptos"/>
              </a:rPr>
              <a:t>PROVENANCE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6A7656F-47BF-AA8A-E4AD-9F8CB1D1BB52}"/>
              </a:ext>
            </a:extLst>
          </p:cNvPr>
          <p:cNvSpPr txBox="1"/>
          <p:nvPr/>
        </p:nvSpPr>
        <p:spPr>
          <a:xfrm>
            <a:off x="10954512" y="3886200"/>
            <a:ext cx="320040" cy="10972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700" b="1" i="0">
                <a:solidFill>
                  <a:srgbClr val="2A3644"/>
                </a:solidFill>
                <a:latin typeface="Aptos"/>
              </a:rPr>
              <a:t>Source
Dataset ID
Period
URL</a:t>
            </a:r>
          </a:p>
        </p:txBody>
      </p:sp>
    </p:spTree>
    <p:extLst>
      <p:ext uri="{BB962C8B-B14F-4D97-AF65-F5344CB8AC3E}">
        <p14:creationId xmlns:p14="http://schemas.microsoft.com/office/powerpoint/2010/main" val="5546020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22C364B-F82C-4481-95D6-13DCF93D5119}"/>
              </a:ext>
            </a:extLst>
          </p:cNvPr>
          <p:cNvSpPr txBox="1"/>
          <p:nvPr/>
        </p:nvSpPr>
        <p:spPr>
          <a:xfrm>
            <a:off x="530352" y="1307592"/>
            <a:ext cx="1078992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50" b="0" i="0">
                <a:solidFill>
                  <a:srgbClr val="2A3644"/>
                </a:solidFill>
                <a:latin typeface="Aptos"/>
              </a:rPr>
              <a:t>Evidence is surfaced as traceable records rather than as unsupported AI-generated claims.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750EA8C-5900-DCC9-02ED-520876361B50}"/>
              </a:ext>
            </a:extLst>
          </p:cNvPr>
          <p:cNvSpPr/>
          <p:nvPr/>
        </p:nvSpPr>
        <p:spPr>
          <a:xfrm>
            <a:off x="502920" y="1783080"/>
            <a:ext cx="11155680" cy="4389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5">
            <a:extLst>
              <a:ext uri="{FF2B5EF4-FFF2-40B4-BE49-F238E27FC236}">
                <a16:creationId xmlns:a16="http://schemas.microsoft.com/office/drawing/2014/main" id="{4B2579C2-77A4-2771-6BDC-E9AEAB0D7B6B}"/>
              </a:ext>
            </a:extLst>
          </p:cNvPr>
          <p:cNvSpPr/>
          <p:nvPr/>
        </p:nvSpPr>
        <p:spPr>
          <a:xfrm>
            <a:off x="502920" y="1783080"/>
            <a:ext cx="1115568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98AEBD2-49A7-6504-C77E-860C663A448C}"/>
              </a:ext>
            </a:extLst>
          </p:cNvPr>
          <p:cNvSpPr/>
          <p:nvPr/>
        </p:nvSpPr>
        <p:spPr>
          <a:xfrm>
            <a:off x="502920" y="2075688"/>
            <a:ext cx="11155680" cy="91440"/>
          </a:xfrm>
          <a:prstGeom prst="rect">
            <a:avLst/>
          </a:prstGeom>
          <a:solidFill>
            <a:srgbClr val="FFFFFF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FF80912-260C-26AA-A30E-131329512B21}"/>
              </a:ext>
            </a:extLst>
          </p:cNvPr>
          <p:cNvSpPr/>
          <p:nvPr/>
        </p:nvSpPr>
        <p:spPr>
          <a:xfrm>
            <a:off x="649224" y="1911095"/>
            <a:ext cx="82296" cy="82296"/>
          </a:xfrm>
          <a:prstGeom prst="ellipse">
            <a:avLst/>
          </a:prstGeom>
          <a:solidFill>
            <a:srgbClr val="E16969"/>
          </a:solidFill>
          <a:ln>
            <a:solidFill>
              <a:srgbClr val="E169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ADB4AAE-19F6-9D5C-2E9D-68CE676D0867}"/>
              </a:ext>
            </a:extLst>
          </p:cNvPr>
          <p:cNvSpPr/>
          <p:nvPr/>
        </p:nvSpPr>
        <p:spPr>
          <a:xfrm>
            <a:off x="813816" y="1911095"/>
            <a:ext cx="82296" cy="82296"/>
          </a:xfrm>
          <a:prstGeom prst="ellipse">
            <a:avLst/>
          </a:prstGeom>
          <a:solidFill>
            <a:srgbClr val="FFD750"/>
          </a:solidFill>
          <a:ln>
            <a:solidFill>
              <a:srgbClr val="FFD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E3C77882-7090-727B-75FF-05A9791DF5E9}"/>
              </a:ext>
            </a:extLst>
          </p:cNvPr>
          <p:cNvSpPr/>
          <p:nvPr/>
        </p:nvSpPr>
        <p:spPr>
          <a:xfrm>
            <a:off x="978408" y="1911095"/>
            <a:ext cx="82296" cy="82296"/>
          </a:xfrm>
          <a:prstGeom prst="ellipse">
            <a:avLst/>
          </a:prstGeom>
          <a:solidFill>
            <a:srgbClr val="4BBE87"/>
          </a:solidFill>
          <a:ln>
            <a:solidFill>
              <a:srgbClr val="4BB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6E4C8C1-6B2E-AA42-F099-9A9D5776CEB8}"/>
              </a:ext>
            </a:extLst>
          </p:cNvPr>
          <p:cNvSpPr txBox="1"/>
          <p:nvPr/>
        </p:nvSpPr>
        <p:spPr>
          <a:xfrm>
            <a:off x="1216152" y="1865376"/>
            <a:ext cx="10241280" cy="2011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2A3644"/>
                </a:solidFill>
                <a:latin typeface="Aptos"/>
              </a:rPr>
              <a:t>NagrikLens AI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06D4BE4-8C89-A8A8-5B44-E11D421983C7}"/>
              </a:ext>
            </a:extLst>
          </p:cNvPr>
          <p:cNvSpPr/>
          <p:nvPr/>
        </p:nvSpPr>
        <p:spPr>
          <a:xfrm>
            <a:off x="502920" y="2167128"/>
            <a:ext cx="1828800" cy="4005072"/>
          </a:xfrm>
          <a:prstGeom prst="rect">
            <a:avLst/>
          </a:prstGeom>
          <a:solidFill>
            <a:srgbClr val="FFFFFF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9646FD1-00F8-2D76-8E08-339DC53F4DF2}"/>
              </a:ext>
            </a:extLst>
          </p:cNvPr>
          <p:cNvSpPr txBox="1"/>
          <p:nvPr/>
        </p:nvSpPr>
        <p:spPr>
          <a:xfrm>
            <a:off x="667512" y="2350008"/>
            <a:ext cx="1499616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2A3644"/>
                </a:solidFill>
                <a:latin typeface="Aptos"/>
              </a:rPr>
              <a:t>NagrikLens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C59A6E4-6C25-6776-16E9-8E135009AA54}"/>
              </a:ext>
            </a:extLst>
          </p:cNvPr>
          <p:cNvSpPr txBox="1"/>
          <p:nvPr/>
        </p:nvSpPr>
        <p:spPr>
          <a:xfrm>
            <a:off x="667512" y="2670048"/>
            <a:ext cx="1499616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650" b="1" i="0">
                <a:solidFill>
                  <a:srgbClr val="2A3644"/>
                </a:solidFill>
                <a:latin typeface="Aptos"/>
              </a:rPr>
              <a:t>CIVIC INTELLIGENCE</a:t>
            </a:r>
          </a:p>
        </p:txBody>
      </p:sp>
      <p:sp>
        <p:nvSpPr>
          <p:cNvPr id="25" name="Rounded Rectangle 14">
            <a:extLst>
              <a:ext uri="{FF2B5EF4-FFF2-40B4-BE49-F238E27FC236}">
                <a16:creationId xmlns:a16="http://schemas.microsoft.com/office/drawing/2014/main" id="{6C80242C-D2BF-7FBB-5E9E-074BE8458E82}"/>
              </a:ext>
            </a:extLst>
          </p:cNvPr>
          <p:cNvSpPr/>
          <p:nvPr/>
        </p:nvSpPr>
        <p:spPr>
          <a:xfrm>
            <a:off x="594360" y="3081528"/>
            <a:ext cx="1645920" cy="3108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16DDE29-9958-D798-CA1A-C8916B55D6F6}"/>
              </a:ext>
            </a:extLst>
          </p:cNvPr>
          <p:cNvSpPr txBox="1"/>
          <p:nvPr/>
        </p:nvSpPr>
        <p:spPr>
          <a:xfrm>
            <a:off x="731520" y="3145536"/>
            <a:ext cx="1508760" cy="1645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19" b="0" i="0">
                <a:solidFill>
                  <a:srgbClr val="2A3644"/>
                </a:solidFill>
                <a:latin typeface="Aptos"/>
              </a:rPr>
              <a:t>Dashboard</a:t>
            </a:r>
          </a:p>
        </p:txBody>
      </p:sp>
      <p:sp>
        <p:nvSpPr>
          <p:cNvPr id="29" name="Rounded Rectangle 16">
            <a:extLst>
              <a:ext uri="{FF2B5EF4-FFF2-40B4-BE49-F238E27FC236}">
                <a16:creationId xmlns:a16="http://schemas.microsoft.com/office/drawing/2014/main" id="{538BFE85-D9DA-10D6-1E5D-A24C11C65F86}"/>
              </a:ext>
            </a:extLst>
          </p:cNvPr>
          <p:cNvSpPr/>
          <p:nvPr/>
        </p:nvSpPr>
        <p:spPr>
          <a:xfrm>
            <a:off x="594360" y="3465576"/>
            <a:ext cx="1645920" cy="3108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20286A9-4DFA-FB12-E91A-EA2C76E86874}"/>
              </a:ext>
            </a:extLst>
          </p:cNvPr>
          <p:cNvSpPr txBox="1"/>
          <p:nvPr/>
        </p:nvSpPr>
        <p:spPr>
          <a:xfrm>
            <a:off x="731520" y="3529584"/>
            <a:ext cx="1508760" cy="1645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19" b="0" i="0">
                <a:solidFill>
                  <a:srgbClr val="2A3644"/>
                </a:solidFill>
                <a:latin typeface="Aptos"/>
              </a:rPr>
              <a:t>Report Problem</a:t>
            </a:r>
          </a:p>
        </p:txBody>
      </p:sp>
      <p:sp>
        <p:nvSpPr>
          <p:cNvPr id="33" name="Rounded Rectangle 18">
            <a:extLst>
              <a:ext uri="{FF2B5EF4-FFF2-40B4-BE49-F238E27FC236}">
                <a16:creationId xmlns:a16="http://schemas.microsoft.com/office/drawing/2014/main" id="{D2F5061D-783F-AE2B-3B78-C7738781C424}"/>
              </a:ext>
            </a:extLst>
          </p:cNvPr>
          <p:cNvSpPr/>
          <p:nvPr/>
        </p:nvSpPr>
        <p:spPr>
          <a:xfrm>
            <a:off x="594360" y="3849624"/>
            <a:ext cx="1645920" cy="310896"/>
          </a:xfrm>
          <a:prstGeom prst="roundRect">
            <a:avLst>
              <a:gd name="adj" fmla="val 8000"/>
            </a:avLst>
          </a:prstGeom>
          <a:solidFill>
            <a:srgbClr val="006A61"/>
          </a:solidFill>
          <a:ln w="10160">
            <a:solidFill>
              <a:srgbClr val="006A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C241E9E-8129-F22D-B621-7184BB500017}"/>
              </a:ext>
            </a:extLst>
          </p:cNvPr>
          <p:cNvSpPr txBox="1"/>
          <p:nvPr/>
        </p:nvSpPr>
        <p:spPr>
          <a:xfrm>
            <a:off x="731520" y="3913632"/>
            <a:ext cx="1508760" cy="1645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19" b="1" i="0">
                <a:solidFill>
                  <a:srgbClr val="2A3644"/>
                </a:solidFill>
                <a:latin typeface="Aptos"/>
              </a:rPr>
              <a:t>Evidence Explorer</a:t>
            </a:r>
          </a:p>
        </p:txBody>
      </p:sp>
      <p:sp>
        <p:nvSpPr>
          <p:cNvPr id="37" name="Rounded Rectangle 20">
            <a:extLst>
              <a:ext uri="{FF2B5EF4-FFF2-40B4-BE49-F238E27FC236}">
                <a16:creationId xmlns:a16="http://schemas.microsoft.com/office/drawing/2014/main" id="{25A64262-0610-5670-721B-7B4AD97DA752}"/>
              </a:ext>
            </a:extLst>
          </p:cNvPr>
          <p:cNvSpPr/>
          <p:nvPr/>
        </p:nvSpPr>
        <p:spPr>
          <a:xfrm>
            <a:off x="594360" y="4233672"/>
            <a:ext cx="1645920" cy="3108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E90B98B-BF1E-8DF7-F2BB-D318ACD7A6BF}"/>
              </a:ext>
            </a:extLst>
          </p:cNvPr>
          <p:cNvSpPr txBox="1"/>
          <p:nvPr/>
        </p:nvSpPr>
        <p:spPr>
          <a:xfrm>
            <a:off x="731520" y="4297680"/>
            <a:ext cx="1508760" cy="1645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19" b="0" i="0">
                <a:solidFill>
                  <a:srgbClr val="2A3644"/>
                </a:solidFill>
                <a:latin typeface="Aptos"/>
              </a:rPr>
              <a:t>Explore Issues</a:t>
            </a:r>
          </a:p>
        </p:txBody>
      </p:sp>
      <p:sp>
        <p:nvSpPr>
          <p:cNvPr id="41" name="Rounded Rectangle 22">
            <a:extLst>
              <a:ext uri="{FF2B5EF4-FFF2-40B4-BE49-F238E27FC236}">
                <a16:creationId xmlns:a16="http://schemas.microsoft.com/office/drawing/2014/main" id="{A6B8C1AB-5352-F26A-E184-FAE09492568C}"/>
              </a:ext>
            </a:extLst>
          </p:cNvPr>
          <p:cNvSpPr/>
          <p:nvPr/>
        </p:nvSpPr>
        <p:spPr>
          <a:xfrm>
            <a:off x="594360" y="4617720"/>
            <a:ext cx="1645920" cy="3108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6B3C2B8-0592-8FA2-AF41-D07E4B512007}"/>
              </a:ext>
            </a:extLst>
          </p:cNvPr>
          <p:cNvSpPr txBox="1"/>
          <p:nvPr/>
        </p:nvSpPr>
        <p:spPr>
          <a:xfrm>
            <a:off x="731520" y="4681728"/>
            <a:ext cx="1508760" cy="1645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19" b="0" i="0">
                <a:solidFill>
                  <a:srgbClr val="2A3644"/>
                </a:solidFill>
                <a:latin typeface="Aptos"/>
              </a:rPr>
              <a:t>Priority Insights</a:t>
            </a:r>
          </a:p>
        </p:txBody>
      </p:sp>
      <p:sp>
        <p:nvSpPr>
          <p:cNvPr id="45" name="Rounded Rectangle 24">
            <a:extLst>
              <a:ext uri="{FF2B5EF4-FFF2-40B4-BE49-F238E27FC236}">
                <a16:creationId xmlns:a16="http://schemas.microsoft.com/office/drawing/2014/main" id="{81DD2D7F-E037-6822-B834-3F4692EAD96F}"/>
              </a:ext>
            </a:extLst>
          </p:cNvPr>
          <p:cNvSpPr/>
          <p:nvPr/>
        </p:nvSpPr>
        <p:spPr>
          <a:xfrm>
            <a:off x="594360" y="5001768"/>
            <a:ext cx="1645920" cy="3108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8E7687F-43A1-AC56-8632-4801B37B7B44}"/>
              </a:ext>
            </a:extLst>
          </p:cNvPr>
          <p:cNvSpPr txBox="1"/>
          <p:nvPr/>
        </p:nvSpPr>
        <p:spPr>
          <a:xfrm>
            <a:off x="731520" y="5065776"/>
            <a:ext cx="1508760" cy="1645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19" b="0" i="0">
                <a:solidFill>
                  <a:srgbClr val="2A3644"/>
                </a:solidFill>
                <a:latin typeface="Aptos"/>
              </a:rPr>
              <a:t>Data Sources</a:t>
            </a:r>
          </a:p>
        </p:txBody>
      </p:sp>
      <p:sp>
        <p:nvSpPr>
          <p:cNvPr id="49" name="Rounded Rectangle 26">
            <a:extLst>
              <a:ext uri="{FF2B5EF4-FFF2-40B4-BE49-F238E27FC236}">
                <a16:creationId xmlns:a16="http://schemas.microsoft.com/office/drawing/2014/main" id="{6B1E394A-1066-F724-099E-986A45353DBE}"/>
              </a:ext>
            </a:extLst>
          </p:cNvPr>
          <p:cNvSpPr/>
          <p:nvPr/>
        </p:nvSpPr>
        <p:spPr>
          <a:xfrm>
            <a:off x="594360" y="5385816"/>
            <a:ext cx="1645920" cy="3108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4F82097-7E03-C8FE-89FA-1C35D800F8E0}"/>
              </a:ext>
            </a:extLst>
          </p:cNvPr>
          <p:cNvSpPr txBox="1"/>
          <p:nvPr/>
        </p:nvSpPr>
        <p:spPr>
          <a:xfrm>
            <a:off x="731520" y="5449824"/>
            <a:ext cx="1508760" cy="1645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19" b="0" i="0">
                <a:solidFill>
                  <a:srgbClr val="2A3644"/>
                </a:solidFill>
                <a:latin typeface="Aptos"/>
              </a:rPr>
              <a:t>Analytics</a:t>
            </a:r>
          </a:p>
        </p:txBody>
      </p:sp>
      <p:sp>
        <p:nvSpPr>
          <p:cNvPr id="53" name="Rounded Rectangle 28">
            <a:extLst>
              <a:ext uri="{FF2B5EF4-FFF2-40B4-BE49-F238E27FC236}">
                <a16:creationId xmlns:a16="http://schemas.microsoft.com/office/drawing/2014/main" id="{3A64DE62-0C3D-9E0F-3E08-8F57F10F92FF}"/>
              </a:ext>
            </a:extLst>
          </p:cNvPr>
          <p:cNvSpPr/>
          <p:nvPr/>
        </p:nvSpPr>
        <p:spPr>
          <a:xfrm>
            <a:off x="594360" y="5769864"/>
            <a:ext cx="1645920" cy="3108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AFB60B0-81EC-F446-CC73-EF09C78FD3C9}"/>
              </a:ext>
            </a:extLst>
          </p:cNvPr>
          <p:cNvSpPr txBox="1"/>
          <p:nvPr/>
        </p:nvSpPr>
        <p:spPr>
          <a:xfrm>
            <a:off x="731520" y="5833872"/>
            <a:ext cx="1508760" cy="1645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19" b="0" i="0">
                <a:solidFill>
                  <a:srgbClr val="2A3644"/>
                </a:solidFill>
                <a:latin typeface="Aptos"/>
              </a:rPr>
              <a:t>My Reports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42F90FE-4AF3-BB96-7820-391F3D98C5A3}"/>
              </a:ext>
            </a:extLst>
          </p:cNvPr>
          <p:cNvSpPr txBox="1"/>
          <p:nvPr/>
        </p:nvSpPr>
        <p:spPr>
          <a:xfrm>
            <a:off x="2578608" y="2395728"/>
            <a:ext cx="274320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2A3644"/>
                </a:solidFill>
                <a:latin typeface="Aptos"/>
              </a:rPr>
              <a:t>Evidence Explorer</a:t>
            </a:r>
          </a:p>
        </p:txBody>
      </p:sp>
      <p:sp>
        <p:nvSpPr>
          <p:cNvPr id="59" name="Rounded Rectangle 31">
            <a:extLst>
              <a:ext uri="{FF2B5EF4-FFF2-40B4-BE49-F238E27FC236}">
                <a16:creationId xmlns:a16="http://schemas.microsoft.com/office/drawing/2014/main" id="{24B1613D-293A-5538-E26B-415A65D1E10E}"/>
              </a:ext>
            </a:extLst>
          </p:cNvPr>
          <p:cNvSpPr/>
          <p:nvPr/>
        </p:nvSpPr>
        <p:spPr>
          <a:xfrm>
            <a:off x="2578608" y="2852928"/>
            <a:ext cx="8092440" cy="438912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3181794-D8D2-775B-1E13-A049432306FB}"/>
              </a:ext>
            </a:extLst>
          </p:cNvPr>
          <p:cNvSpPr txBox="1"/>
          <p:nvPr/>
        </p:nvSpPr>
        <p:spPr>
          <a:xfrm>
            <a:off x="2788920" y="2971800"/>
            <a:ext cx="704088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2A3644"/>
                </a:solidFill>
                <a:latin typeface="Aptos"/>
              </a:rPr>
              <a:t>Search public evidence for: water access / Dharashiv / households</a:t>
            </a:r>
          </a:p>
        </p:txBody>
      </p:sp>
      <p:sp>
        <p:nvSpPr>
          <p:cNvPr id="63" name="Rounded Rectangle 33">
            <a:extLst>
              <a:ext uri="{FF2B5EF4-FFF2-40B4-BE49-F238E27FC236}">
                <a16:creationId xmlns:a16="http://schemas.microsoft.com/office/drawing/2014/main" id="{397A7659-EF67-388C-8B50-9880B2545B3B}"/>
              </a:ext>
            </a:extLst>
          </p:cNvPr>
          <p:cNvSpPr/>
          <p:nvPr/>
        </p:nvSpPr>
        <p:spPr>
          <a:xfrm>
            <a:off x="9738360" y="2935224"/>
            <a:ext cx="713232" cy="274320"/>
          </a:xfrm>
          <a:prstGeom prst="roundRect">
            <a:avLst>
              <a:gd name="adj" fmla="val 8000"/>
            </a:avLst>
          </a:prstGeom>
          <a:solidFill>
            <a:srgbClr val="006A61"/>
          </a:solidFill>
          <a:ln w="10160">
            <a:solidFill>
              <a:srgbClr val="006A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86835F0-DB92-207F-64A1-23CF3F939949}"/>
              </a:ext>
            </a:extLst>
          </p:cNvPr>
          <p:cNvSpPr txBox="1"/>
          <p:nvPr/>
        </p:nvSpPr>
        <p:spPr>
          <a:xfrm>
            <a:off x="9793224" y="2976372"/>
            <a:ext cx="603504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850" b="1" i="0">
                <a:solidFill>
                  <a:srgbClr val="2A3644"/>
                </a:solidFill>
                <a:latin typeface="Aptos"/>
              </a:rPr>
              <a:t>SEARCH</a:t>
            </a:r>
          </a:p>
        </p:txBody>
      </p:sp>
      <p:sp>
        <p:nvSpPr>
          <p:cNvPr id="67" name="Rounded Rectangle 35">
            <a:extLst>
              <a:ext uri="{FF2B5EF4-FFF2-40B4-BE49-F238E27FC236}">
                <a16:creationId xmlns:a16="http://schemas.microsoft.com/office/drawing/2014/main" id="{8AC1D4C6-345D-E4EA-0F03-702E96883351}"/>
              </a:ext>
            </a:extLst>
          </p:cNvPr>
          <p:cNvSpPr/>
          <p:nvPr/>
        </p:nvSpPr>
        <p:spPr>
          <a:xfrm>
            <a:off x="2578608" y="3493008"/>
            <a:ext cx="809244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ounded Rectangle 36">
            <a:extLst>
              <a:ext uri="{FF2B5EF4-FFF2-40B4-BE49-F238E27FC236}">
                <a16:creationId xmlns:a16="http://schemas.microsoft.com/office/drawing/2014/main" id="{8594DADF-E3E0-349F-D1F6-03B8FA55A18F}"/>
              </a:ext>
            </a:extLst>
          </p:cNvPr>
          <p:cNvSpPr/>
          <p:nvPr/>
        </p:nvSpPr>
        <p:spPr>
          <a:xfrm>
            <a:off x="2743200" y="3639312"/>
            <a:ext cx="1051560" cy="2743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0160">
            <a:solidFill>
              <a:srgbClr val="EF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DF325B5-0C33-23C9-AF3B-24246F35734A}"/>
              </a:ext>
            </a:extLst>
          </p:cNvPr>
          <p:cNvSpPr txBox="1"/>
          <p:nvPr/>
        </p:nvSpPr>
        <p:spPr>
          <a:xfrm>
            <a:off x="2798064" y="3680460"/>
            <a:ext cx="941831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850" b="1" i="0">
                <a:solidFill>
                  <a:srgbClr val="2A3644"/>
                </a:solidFill>
                <a:latin typeface="Aptos"/>
              </a:rPr>
              <a:t>PUBLIC DATA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C134F17-31FA-08B8-CE5D-B8E10E8FEBDC}"/>
              </a:ext>
            </a:extLst>
          </p:cNvPr>
          <p:cNvSpPr txBox="1"/>
          <p:nvPr/>
        </p:nvSpPr>
        <p:spPr>
          <a:xfrm>
            <a:off x="3977639" y="3602736"/>
            <a:ext cx="283464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2A3644"/>
                </a:solidFill>
                <a:latin typeface="Aptos"/>
              </a:rPr>
              <a:t>Water infrastructure record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ACFFEFD-32C9-6DE9-6CC0-937C7B02B1FD}"/>
              </a:ext>
            </a:extLst>
          </p:cNvPr>
          <p:cNvSpPr txBox="1"/>
          <p:nvPr/>
        </p:nvSpPr>
        <p:spPr>
          <a:xfrm>
            <a:off x="6629400" y="3602736"/>
            <a:ext cx="361188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19" b="0" i="0">
                <a:solidFill>
                  <a:srgbClr val="2A3644"/>
                </a:solidFill>
                <a:latin typeface="Aptos"/>
              </a:rPr>
              <a:t>Dataset • Geography • Reporting period</a:t>
            </a:r>
          </a:p>
        </p:txBody>
      </p:sp>
      <p:sp>
        <p:nvSpPr>
          <p:cNvPr id="77" name="Rounded Rectangle 40">
            <a:extLst>
              <a:ext uri="{FF2B5EF4-FFF2-40B4-BE49-F238E27FC236}">
                <a16:creationId xmlns:a16="http://schemas.microsoft.com/office/drawing/2014/main" id="{9560AEF4-46A6-092A-BA6C-6D10AA6B95D8}"/>
              </a:ext>
            </a:extLst>
          </p:cNvPr>
          <p:cNvSpPr/>
          <p:nvPr/>
        </p:nvSpPr>
        <p:spPr>
          <a:xfrm>
            <a:off x="2578608" y="4206240"/>
            <a:ext cx="809244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41">
            <a:extLst>
              <a:ext uri="{FF2B5EF4-FFF2-40B4-BE49-F238E27FC236}">
                <a16:creationId xmlns:a16="http://schemas.microsoft.com/office/drawing/2014/main" id="{7B286595-41C0-2CA3-2617-BAE69BD3BE97}"/>
              </a:ext>
            </a:extLst>
          </p:cNvPr>
          <p:cNvSpPr/>
          <p:nvPr/>
        </p:nvSpPr>
        <p:spPr>
          <a:xfrm>
            <a:off x="2743200" y="4352544"/>
            <a:ext cx="1051560" cy="2743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0160">
            <a:solidFill>
              <a:srgbClr val="EF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5D0486A-2CA9-EEE9-7407-746EC4972ECB}"/>
              </a:ext>
            </a:extLst>
          </p:cNvPr>
          <p:cNvSpPr txBox="1"/>
          <p:nvPr/>
        </p:nvSpPr>
        <p:spPr>
          <a:xfrm>
            <a:off x="2798064" y="4393692"/>
            <a:ext cx="941831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850" b="1" i="0">
                <a:solidFill>
                  <a:srgbClr val="2A3644"/>
                </a:solidFill>
                <a:latin typeface="Aptos"/>
              </a:rPr>
              <a:t>OPEN SOURCE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8EC0180-C589-AADC-D9BD-46E0CE2C2F83}"/>
              </a:ext>
            </a:extLst>
          </p:cNvPr>
          <p:cNvSpPr txBox="1"/>
          <p:nvPr/>
        </p:nvSpPr>
        <p:spPr>
          <a:xfrm>
            <a:off x="3977639" y="4315968"/>
            <a:ext cx="283464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2A3644"/>
                </a:solidFill>
                <a:latin typeface="Aptos"/>
              </a:rPr>
              <a:t>Household coverage evidence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E34E5F6-9B6C-4A60-A6D3-94DC9654CC6E}"/>
              </a:ext>
            </a:extLst>
          </p:cNvPr>
          <p:cNvSpPr txBox="1"/>
          <p:nvPr/>
        </p:nvSpPr>
        <p:spPr>
          <a:xfrm>
            <a:off x="6629400" y="4315968"/>
            <a:ext cx="361188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19" b="0" i="0">
                <a:solidFill>
                  <a:srgbClr val="2A3644"/>
                </a:solidFill>
                <a:latin typeface="Aptos"/>
              </a:rPr>
              <a:t>Source organization • Dataset ID • URL</a:t>
            </a:r>
          </a:p>
        </p:txBody>
      </p:sp>
      <p:sp>
        <p:nvSpPr>
          <p:cNvPr id="87" name="Rounded Rectangle 45">
            <a:extLst>
              <a:ext uri="{FF2B5EF4-FFF2-40B4-BE49-F238E27FC236}">
                <a16:creationId xmlns:a16="http://schemas.microsoft.com/office/drawing/2014/main" id="{64E1B49D-AD2E-6742-ABB0-939492976021}"/>
              </a:ext>
            </a:extLst>
          </p:cNvPr>
          <p:cNvSpPr/>
          <p:nvPr/>
        </p:nvSpPr>
        <p:spPr>
          <a:xfrm>
            <a:off x="2578608" y="4919472"/>
            <a:ext cx="809244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ounded Rectangle 46">
            <a:extLst>
              <a:ext uri="{FF2B5EF4-FFF2-40B4-BE49-F238E27FC236}">
                <a16:creationId xmlns:a16="http://schemas.microsoft.com/office/drawing/2014/main" id="{54B00AB4-DDC9-6A50-038C-F89F9A2210D5}"/>
              </a:ext>
            </a:extLst>
          </p:cNvPr>
          <p:cNvSpPr/>
          <p:nvPr/>
        </p:nvSpPr>
        <p:spPr>
          <a:xfrm>
            <a:off x="2743200" y="5065776"/>
            <a:ext cx="1051560" cy="2743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0160">
            <a:solidFill>
              <a:srgbClr val="EF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6BE2F8B-4EC6-B2B3-A072-8F5403E1B3F3}"/>
              </a:ext>
            </a:extLst>
          </p:cNvPr>
          <p:cNvSpPr txBox="1"/>
          <p:nvPr/>
        </p:nvSpPr>
        <p:spPr>
          <a:xfrm>
            <a:off x="2798064" y="5106924"/>
            <a:ext cx="941831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850" b="1" i="0">
                <a:solidFill>
                  <a:srgbClr val="2A3644"/>
                </a:solidFill>
                <a:latin typeface="Aptos"/>
              </a:rPr>
              <a:t>VERIFIED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C3B9549-5FDF-BEA8-7BF3-EE55CD4E6A8B}"/>
              </a:ext>
            </a:extLst>
          </p:cNvPr>
          <p:cNvSpPr txBox="1"/>
          <p:nvPr/>
        </p:nvSpPr>
        <p:spPr>
          <a:xfrm>
            <a:off x="3977639" y="5029200"/>
            <a:ext cx="283464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2A3644"/>
                </a:solidFill>
                <a:latin typeface="Aptos"/>
              </a:rPr>
              <a:t>Relevant supporting record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C7D10FA1-E652-6D46-5587-A79BCA4D8233}"/>
              </a:ext>
            </a:extLst>
          </p:cNvPr>
          <p:cNvSpPr txBox="1"/>
          <p:nvPr/>
        </p:nvSpPr>
        <p:spPr>
          <a:xfrm>
            <a:off x="6629400" y="5029200"/>
            <a:ext cx="361188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19" b="0" i="0">
                <a:solidFill>
                  <a:srgbClr val="2A3644"/>
                </a:solidFill>
                <a:latin typeface="Aptos"/>
              </a:rPr>
              <a:t>Verification status • Updated timestamp</a:t>
            </a:r>
          </a:p>
        </p:txBody>
      </p:sp>
      <p:sp>
        <p:nvSpPr>
          <p:cNvPr id="97" name="Rounded Rectangle 50">
            <a:extLst>
              <a:ext uri="{FF2B5EF4-FFF2-40B4-BE49-F238E27FC236}">
                <a16:creationId xmlns:a16="http://schemas.microsoft.com/office/drawing/2014/main" id="{8E2DAF8B-5E2E-3EE6-7CC7-E959A7C527C7}"/>
              </a:ext>
            </a:extLst>
          </p:cNvPr>
          <p:cNvSpPr/>
          <p:nvPr/>
        </p:nvSpPr>
        <p:spPr>
          <a:xfrm>
            <a:off x="10881360" y="2852928"/>
            <a:ext cx="475488" cy="278892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668A2521-1A52-4576-93AD-CBA47D60B912}"/>
              </a:ext>
            </a:extLst>
          </p:cNvPr>
          <p:cNvSpPr txBox="1"/>
          <p:nvPr/>
        </p:nvSpPr>
        <p:spPr>
          <a:xfrm>
            <a:off x="10972800" y="3063240"/>
            <a:ext cx="292608" cy="7772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700" b="1" i="0">
                <a:solidFill>
                  <a:srgbClr val="2A3644"/>
                </a:solidFill>
                <a:latin typeface="Aptos"/>
              </a:rPr>
              <a:t>PROVENANCE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6F5E2741-D848-0CA7-D290-0B94D58FE354}"/>
              </a:ext>
            </a:extLst>
          </p:cNvPr>
          <p:cNvSpPr txBox="1"/>
          <p:nvPr/>
        </p:nvSpPr>
        <p:spPr>
          <a:xfrm>
            <a:off x="10954512" y="3886200"/>
            <a:ext cx="320040" cy="10972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700" b="1" i="0">
                <a:solidFill>
                  <a:srgbClr val="2A3644"/>
                </a:solidFill>
                <a:latin typeface="Aptos"/>
              </a:rPr>
              <a:t>Source
Dataset ID
Period
URL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66FC763-7C45-A3AA-8D4D-ABF1DF7BFAA1}"/>
              </a:ext>
            </a:extLst>
          </p:cNvPr>
          <p:cNvSpPr txBox="1"/>
          <p:nvPr/>
        </p:nvSpPr>
        <p:spPr>
          <a:xfrm>
            <a:off x="502920" y="658368"/>
            <a:ext cx="11064240" cy="6400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800" b="1" i="0" dirty="0">
                <a:solidFill>
                  <a:srgbClr val="2A3644"/>
                </a:solidFill>
                <a:latin typeface="Aptos"/>
              </a:rPr>
              <a:t>The Web App Connects Reports to Public Evidence.</a:t>
            </a:r>
          </a:p>
        </p:txBody>
      </p:sp>
    </p:spTree>
    <p:extLst>
      <p:ext uri="{BB962C8B-B14F-4D97-AF65-F5344CB8AC3E}">
        <p14:creationId xmlns:p14="http://schemas.microsoft.com/office/powerpoint/2010/main" val="22172762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4000DB-B3E8-6874-5F50-5E18DD5580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5191D1D-AF98-9A0F-8738-434595103471}"/>
              </a:ext>
            </a:extLst>
          </p:cNvPr>
          <p:cNvSpPr txBox="1"/>
          <p:nvPr/>
        </p:nvSpPr>
        <p:spPr>
          <a:xfrm>
            <a:off x="502920" y="658368"/>
            <a:ext cx="11064240" cy="6400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2A3644"/>
                </a:solidFill>
                <a:latin typeface="Aptos"/>
              </a:rPr>
              <a:t>Semantic Retrieval + RAG = Evidence-Grounded Analysis.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B4148C7-CE17-2742-D876-37D07E2EA305}"/>
              </a:ext>
            </a:extLst>
          </p:cNvPr>
          <p:cNvSpPr txBox="1"/>
          <p:nvPr/>
        </p:nvSpPr>
        <p:spPr>
          <a:xfrm>
            <a:off x="530352" y="1307592"/>
            <a:ext cx="1078992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50" b="0" i="0">
                <a:solidFill>
                  <a:srgbClr val="2A3644"/>
                </a:solidFill>
                <a:latin typeface="Aptos"/>
              </a:rPr>
              <a:t>The backend combines multilingual embeddings, vector search and metadata filtering before Gemini synthesizes the result.</a:t>
            </a:r>
          </a:p>
        </p:txBody>
      </p:sp>
      <p:sp>
        <p:nvSpPr>
          <p:cNvPr id="4" name="Rounded Rectangle 4">
            <a:extLst>
              <a:ext uri="{FF2B5EF4-FFF2-40B4-BE49-F238E27FC236}">
                <a16:creationId xmlns:a16="http://schemas.microsoft.com/office/drawing/2014/main" id="{44E11B88-8BE8-8F95-7CFB-294AFEBFB247}"/>
              </a:ext>
            </a:extLst>
          </p:cNvPr>
          <p:cNvSpPr/>
          <p:nvPr/>
        </p:nvSpPr>
        <p:spPr>
          <a:xfrm>
            <a:off x="502920" y="1920240"/>
            <a:ext cx="2542032" cy="2240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B485CF-FD7C-F888-C540-57A9CF59BA95}"/>
              </a:ext>
            </a:extLst>
          </p:cNvPr>
          <p:cNvSpPr txBox="1"/>
          <p:nvPr/>
        </p:nvSpPr>
        <p:spPr>
          <a:xfrm>
            <a:off x="685800" y="2103120"/>
            <a:ext cx="36576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2A3644"/>
                </a:solidFill>
                <a:latin typeface="Aptos"/>
              </a:rPr>
              <a:t>01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EFA4180-376D-9201-E7F4-572CA698ADE1}"/>
              </a:ext>
            </a:extLst>
          </p:cNvPr>
          <p:cNvSpPr txBox="1"/>
          <p:nvPr/>
        </p:nvSpPr>
        <p:spPr>
          <a:xfrm>
            <a:off x="685800" y="2514600"/>
            <a:ext cx="214884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2A3644"/>
                </a:solidFill>
                <a:latin typeface="Aptos"/>
              </a:rPr>
              <a:t>AI STRUCTURE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0CAE643-99B6-AE73-B011-FD05146DBE1A}"/>
              </a:ext>
            </a:extLst>
          </p:cNvPr>
          <p:cNvSpPr txBox="1"/>
          <p:nvPr/>
        </p:nvSpPr>
        <p:spPr>
          <a:xfrm>
            <a:off x="685800" y="3017520"/>
            <a:ext cx="2148840" cy="8229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2A3644"/>
                </a:solidFill>
                <a:latin typeface="Aptos"/>
              </a:rPr>
              <a:t>Gemini extracts problem, location, category and impact.</a:t>
            </a:r>
          </a:p>
        </p:txBody>
      </p:sp>
      <p:cxnSp>
        <p:nvCxnSpPr>
          <p:cNvPr id="8" name="Connector 8">
            <a:extLst>
              <a:ext uri="{FF2B5EF4-FFF2-40B4-BE49-F238E27FC236}">
                <a16:creationId xmlns:a16="http://schemas.microsoft.com/office/drawing/2014/main" id="{B787F509-D361-6939-769C-0623025E481E}"/>
              </a:ext>
            </a:extLst>
          </p:cNvPr>
          <p:cNvCxnSpPr/>
          <p:nvPr/>
        </p:nvCxnSpPr>
        <p:spPr>
          <a:xfrm>
            <a:off x="3044952" y="3017520"/>
            <a:ext cx="246887" cy="0"/>
          </a:xfrm>
          <a:prstGeom prst="line">
            <a:avLst/>
          </a:prstGeom>
          <a:ln w="19050">
            <a:solidFill>
              <a:srgbClr val="00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9">
            <a:extLst>
              <a:ext uri="{FF2B5EF4-FFF2-40B4-BE49-F238E27FC236}">
                <a16:creationId xmlns:a16="http://schemas.microsoft.com/office/drawing/2014/main" id="{44D396E6-A867-CE5F-DBAD-4B38C0E3D42D}"/>
              </a:ext>
            </a:extLst>
          </p:cNvPr>
          <p:cNvSpPr/>
          <p:nvPr/>
        </p:nvSpPr>
        <p:spPr>
          <a:xfrm>
            <a:off x="3383280" y="1920240"/>
            <a:ext cx="2542032" cy="2240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110406C-E4A1-1E97-2BBC-CFAC032E3ED6}"/>
              </a:ext>
            </a:extLst>
          </p:cNvPr>
          <p:cNvSpPr txBox="1"/>
          <p:nvPr/>
        </p:nvSpPr>
        <p:spPr>
          <a:xfrm>
            <a:off x="3566160" y="2103120"/>
            <a:ext cx="36576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2A3644"/>
                </a:solidFill>
                <a:latin typeface="Aptos"/>
              </a:rPr>
              <a:t>02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7479C16-C0C9-A65A-B08E-1B2C4A45BBE8}"/>
              </a:ext>
            </a:extLst>
          </p:cNvPr>
          <p:cNvSpPr txBox="1"/>
          <p:nvPr/>
        </p:nvSpPr>
        <p:spPr>
          <a:xfrm>
            <a:off x="3566160" y="2514600"/>
            <a:ext cx="214884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2A3644"/>
                </a:solidFill>
                <a:latin typeface="Aptos"/>
              </a:rPr>
              <a:t>SEMANTIC INDEX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C57F4CD-60FB-A41C-DAA7-3F78C25246A0}"/>
              </a:ext>
            </a:extLst>
          </p:cNvPr>
          <p:cNvSpPr txBox="1"/>
          <p:nvPr/>
        </p:nvSpPr>
        <p:spPr>
          <a:xfrm>
            <a:off x="3566160" y="3017520"/>
            <a:ext cx="2148840" cy="8229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2A3644"/>
                </a:solidFill>
                <a:latin typeface="Aptos"/>
              </a:rPr>
              <a:t>Multilingual Sentence Transformers represent meaning as embeddings.</a:t>
            </a:r>
          </a:p>
        </p:txBody>
      </p:sp>
      <p:cxnSp>
        <p:nvCxnSpPr>
          <p:cNvPr id="13" name="Connector 13">
            <a:extLst>
              <a:ext uri="{FF2B5EF4-FFF2-40B4-BE49-F238E27FC236}">
                <a16:creationId xmlns:a16="http://schemas.microsoft.com/office/drawing/2014/main" id="{E94BCBD4-B8E2-59EF-27F7-9CF3269027F8}"/>
              </a:ext>
            </a:extLst>
          </p:cNvPr>
          <p:cNvCxnSpPr/>
          <p:nvPr/>
        </p:nvCxnSpPr>
        <p:spPr>
          <a:xfrm>
            <a:off x="5925312" y="3017520"/>
            <a:ext cx="246888" cy="0"/>
          </a:xfrm>
          <a:prstGeom prst="line">
            <a:avLst/>
          </a:prstGeom>
          <a:ln w="19050">
            <a:solidFill>
              <a:srgbClr val="00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4">
            <a:extLst>
              <a:ext uri="{FF2B5EF4-FFF2-40B4-BE49-F238E27FC236}">
                <a16:creationId xmlns:a16="http://schemas.microsoft.com/office/drawing/2014/main" id="{22EE077C-F391-FCB5-C483-5F444577D1D1}"/>
              </a:ext>
            </a:extLst>
          </p:cNvPr>
          <p:cNvSpPr/>
          <p:nvPr/>
        </p:nvSpPr>
        <p:spPr>
          <a:xfrm>
            <a:off x="6263640" y="1920240"/>
            <a:ext cx="2542032" cy="2240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75F8269-4246-2198-13AD-CB42620BE720}"/>
              </a:ext>
            </a:extLst>
          </p:cNvPr>
          <p:cNvSpPr txBox="1"/>
          <p:nvPr/>
        </p:nvSpPr>
        <p:spPr>
          <a:xfrm>
            <a:off x="6446520" y="2103120"/>
            <a:ext cx="36576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2A3644"/>
                </a:solidFill>
                <a:latin typeface="Aptos"/>
              </a:rPr>
              <a:t>03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90DA0B8-5C24-BA2D-FED5-2D83EB86BCF0}"/>
              </a:ext>
            </a:extLst>
          </p:cNvPr>
          <p:cNvSpPr txBox="1"/>
          <p:nvPr/>
        </p:nvSpPr>
        <p:spPr>
          <a:xfrm>
            <a:off x="6446520" y="2514600"/>
            <a:ext cx="214884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2A3644"/>
                </a:solidFill>
                <a:latin typeface="Aptos"/>
              </a:rPr>
              <a:t>HYBRID SEARCH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BA71744-E377-F1AD-31C8-093CF6D31B81}"/>
              </a:ext>
            </a:extLst>
          </p:cNvPr>
          <p:cNvSpPr txBox="1"/>
          <p:nvPr/>
        </p:nvSpPr>
        <p:spPr>
          <a:xfrm>
            <a:off x="6446520" y="3017520"/>
            <a:ext cx="2148840" cy="8229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2A3644"/>
                </a:solidFill>
                <a:latin typeface="Aptos"/>
              </a:rPr>
              <a:t>FAISS retrieval + structured metadata narrow the evidence set.</a:t>
            </a:r>
          </a:p>
        </p:txBody>
      </p:sp>
      <p:cxnSp>
        <p:nvCxnSpPr>
          <p:cNvPr id="18" name="Connector 18">
            <a:extLst>
              <a:ext uri="{FF2B5EF4-FFF2-40B4-BE49-F238E27FC236}">
                <a16:creationId xmlns:a16="http://schemas.microsoft.com/office/drawing/2014/main" id="{67726040-106F-C783-9113-C0F45D071453}"/>
              </a:ext>
            </a:extLst>
          </p:cNvPr>
          <p:cNvCxnSpPr/>
          <p:nvPr/>
        </p:nvCxnSpPr>
        <p:spPr>
          <a:xfrm>
            <a:off x="8805672" y="3017520"/>
            <a:ext cx="246887" cy="0"/>
          </a:xfrm>
          <a:prstGeom prst="line">
            <a:avLst/>
          </a:prstGeom>
          <a:ln w="19050">
            <a:solidFill>
              <a:srgbClr val="00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9">
            <a:extLst>
              <a:ext uri="{FF2B5EF4-FFF2-40B4-BE49-F238E27FC236}">
                <a16:creationId xmlns:a16="http://schemas.microsoft.com/office/drawing/2014/main" id="{ADC0D155-1C4E-8386-E6D8-A49960B2E992}"/>
              </a:ext>
            </a:extLst>
          </p:cNvPr>
          <p:cNvSpPr/>
          <p:nvPr/>
        </p:nvSpPr>
        <p:spPr>
          <a:xfrm>
            <a:off x="9144000" y="1920240"/>
            <a:ext cx="2542032" cy="2240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ABABECC-0EF7-5E67-56E1-0234B6FD13E9}"/>
              </a:ext>
            </a:extLst>
          </p:cNvPr>
          <p:cNvSpPr txBox="1"/>
          <p:nvPr/>
        </p:nvSpPr>
        <p:spPr>
          <a:xfrm>
            <a:off x="9326880" y="2103120"/>
            <a:ext cx="36576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2A3644"/>
                </a:solidFill>
                <a:latin typeface="Aptos"/>
              </a:rPr>
              <a:t>04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7A1DA51-3C0F-300C-4709-A8A10C305449}"/>
              </a:ext>
            </a:extLst>
          </p:cNvPr>
          <p:cNvSpPr txBox="1"/>
          <p:nvPr/>
        </p:nvSpPr>
        <p:spPr>
          <a:xfrm>
            <a:off x="9326880" y="2514600"/>
            <a:ext cx="214884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2A3644"/>
                </a:solidFill>
                <a:latin typeface="Aptos"/>
              </a:rPr>
              <a:t>RAG ANALYSIS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1860049-252D-EDD2-BB5D-F9E44AC0884D}"/>
              </a:ext>
            </a:extLst>
          </p:cNvPr>
          <p:cNvSpPr txBox="1"/>
          <p:nvPr/>
        </p:nvSpPr>
        <p:spPr>
          <a:xfrm>
            <a:off x="9326880" y="3017520"/>
            <a:ext cx="2148840" cy="8229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2A3644"/>
                </a:solidFill>
                <a:latin typeface="Aptos"/>
              </a:rPr>
              <a:t>Gemini receives the citizen request and retrieved evidence.</a:t>
            </a:r>
          </a:p>
        </p:txBody>
      </p:sp>
      <p:sp>
        <p:nvSpPr>
          <p:cNvPr id="23" name="Rounded Rectangle 23">
            <a:extLst>
              <a:ext uri="{FF2B5EF4-FFF2-40B4-BE49-F238E27FC236}">
                <a16:creationId xmlns:a16="http://schemas.microsoft.com/office/drawing/2014/main" id="{8D407347-FB99-6958-9ECF-66A22FE4F9C3}"/>
              </a:ext>
            </a:extLst>
          </p:cNvPr>
          <p:cNvSpPr/>
          <p:nvPr/>
        </p:nvSpPr>
        <p:spPr>
          <a:xfrm>
            <a:off x="502920" y="4617720"/>
            <a:ext cx="11155680" cy="82296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0160">
            <a:solidFill>
              <a:srgbClr val="EF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3DDE018-9935-548A-8BE4-E3EC92A49FD1}"/>
              </a:ext>
            </a:extLst>
          </p:cNvPr>
          <p:cNvSpPr txBox="1"/>
          <p:nvPr/>
        </p:nvSpPr>
        <p:spPr>
          <a:xfrm>
            <a:off x="749808" y="4791456"/>
            <a:ext cx="1645920" cy="2011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2A3644"/>
                </a:solidFill>
                <a:latin typeface="Aptos"/>
              </a:rPr>
              <a:t>HYBRID RETRIEVAL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32BB0B8-47F7-B269-EA84-BC0D1861F5D8}"/>
              </a:ext>
            </a:extLst>
          </p:cNvPr>
          <p:cNvSpPr txBox="1"/>
          <p:nvPr/>
        </p:nvSpPr>
        <p:spPr>
          <a:xfrm>
            <a:off x="2240280" y="4736592"/>
            <a:ext cx="886968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2A3644"/>
                </a:solidFill>
                <a:latin typeface="Aptos"/>
              </a:rPr>
              <a:t>Semantic similarity + State/District/Category/Time metadata → relevant evidence candidates</a:t>
            </a:r>
          </a:p>
        </p:txBody>
      </p:sp>
      <p:sp>
        <p:nvSpPr>
          <p:cNvPr id="26" name="Rounded Rectangle 26">
            <a:extLst>
              <a:ext uri="{FF2B5EF4-FFF2-40B4-BE49-F238E27FC236}">
                <a16:creationId xmlns:a16="http://schemas.microsoft.com/office/drawing/2014/main" id="{B730C1C0-E94E-F0BC-2AF5-7A82E7D3CA25}"/>
              </a:ext>
            </a:extLst>
          </p:cNvPr>
          <p:cNvSpPr/>
          <p:nvPr/>
        </p:nvSpPr>
        <p:spPr>
          <a:xfrm>
            <a:off x="502920" y="5650992"/>
            <a:ext cx="1115568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3A07049-EA56-519C-EC5E-6474B0A8CB43}"/>
              </a:ext>
            </a:extLst>
          </p:cNvPr>
          <p:cNvSpPr txBox="1"/>
          <p:nvPr/>
        </p:nvSpPr>
        <p:spPr>
          <a:xfrm>
            <a:off x="685800" y="5779008"/>
            <a:ext cx="10789920" cy="2011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2A3644"/>
                </a:solidFill>
                <a:latin typeface="Aptos"/>
              </a:rPr>
              <a:t>No evidence → no invented conclusion.</a:t>
            </a:r>
          </a:p>
        </p:txBody>
      </p:sp>
    </p:spTree>
    <p:extLst>
      <p:ext uri="{BB962C8B-B14F-4D97-AF65-F5344CB8AC3E}">
        <p14:creationId xmlns:p14="http://schemas.microsoft.com/office/powerpoint/2010/main" val="26737472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7AD710-9FEF-E1F4-64E5-4975AD59E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B34DB-D10A-611E-5A99-19E5669E6977}"/>
              </a:ext>
            </a:extLst>
          </p:cNvPr>
          <p:cNvSpPr txBox="1"/>
          <p:nvPr/>
        </p:nvSpPr>
        <p:spPr>
          <a:xfrm>
            <a:off x="530352" y="1307592"/>
            <a:ext cx="1078992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50" b="0" i="0">
                <a:solidFill>
                  <a:srgbClr val="2A3644"/>
                </a:solidFill>
                <a:latin typeface="Aptos"/>
              </a:rPr>
              <a:t>The web app separates evidence-grounded AI interpretation from the deterministic priority engine.</a:t>
            </a:r>
          </a:p>
        </p:txBody>
      </p:sp>
      <p:sp>
        <p:nvSpPr>
          <p:cNvPr id="3" name="Rounded Rectangle 4">
            <a:extLst>
              <a:ext uri="{FF2B5EF4-FFF2-40B4-BE49-F238E27FC236}">
                <a16:creationId xmlns:a16="http://schemas.microsoft.com/office/drawing/2014/main" id="{83AEF8E0-2587-7552-5264-DDB299DEDC64}"/>
              </a:ext>
            </a:extLst>
          </p:cNvPr>
          <p:cNvSpPr/>
          <p:nvPr/>
        </p:nvSpPr>
        <p:spPr>
          <a:xfrm>
            <a:off x="502920" y="1874519"/>
            <a:ext cx="640080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79AE3D-3BEC-7FFA-4847-5893CC508965}"/>
              </a:ext>
            </a:extLst>
          </p:cNvPr>
          <p:cNvSpPr txBox="1"/>
          <p:nvPr/>
        </p:nvSpPr>
        <p:spPr>
          <a:xfrm>
            <a:off x="777240" y="2148840"/>
            <a:ext cx="320040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2A3644"/>
                </a:solidFill>
                <a:latin typeface="Aptos"/>
              </a:rPr>
              <a:t>Priority Intelligence Flow</a:t>
            </a:r>
          </a:p>
        </p:txBody>
      </p:sp>
      <p:sp>
        <p:nvSpPr>
          <p:cNvPr id="5" name="Rounded Rectangle 6">
            <a:extLst>
              <a:ext uri="{FF2B5EF4-FFF2-40B4-BE49-F238E27FC236}">
                <a16:creationId xmlns:a16="http://schemas.microsoft.com/office/drawing/2014/main" id="{FC4BFBFE-C533-D52D-1C5A-A80D34A0DD17}"/>
              </a:ext>
            </a:extLst>
          </p:cNvPr>
          <p:cNvSpPr/>
          <p:nvPr/>
        </p:nvSpPr>
        <p:spPr>
          <a:xfrm>
            <a:off x="777240" y="2697480"/>
            <a:ext cx="1417320" cy="50292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4298B01-9F08-61A8-7794-4B0908601F99}"/>
              </a:ext>
            </a:extLst>
          </p:cNvPr>
          <p:cNvSpPr txBox="1"/>
          <p:nvPr/>
        </p:nvSpPr>
        <p:spPr>
          <a:xfrm>
            <a:off x="896112" y="2843784"/>
            <a:ext cx="1170432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900" b="1" i="0">
                <a:solidFill>
                  <a:srgbClr val="2A3644"/>
                </a:solidFill>
                <a:latin typeface="Aptos"/>
              </a:rPr>
              <a:t>Evidence</a:t>
            </a:r>
          </a:p>
        </p:txBody>
      </p:sp>
      <p:cxnSp>
        <p:nvCxnSpPr>
          <p:cNvPr id="7" name="Connector 8">
            <a:extLst>
              <a:ext uri="{FF2B5EF4-FFF2-40B4-BE49-F238E27FC236}">
                <a16:creationId xmlns:a16="http://schemas.microsoft.com/office/drawing/2014/main" id="{C03881F3-941A-58F9-AFE0-814D5E8FB3BC}"/>
              </a:ext>
            </a:extLst>
          </p:cNvPr>
          <p:cNvCxnSpPr/>
          <p:nvPr/>
        </p:nvCxnSpPr>
        <p:spPr>
          <a:xfrm>
            <a:off x="2240280" y="2944368"/>
            <a:ext cx="274320" cy="0"/>
          </a:xfrm>
          <a:prstGeom prst="line">
            <a:avLst/>
          </a:prstGeom>
          <a:ln w="15240">
            <a:solidFill>
              <a:srgbClr val="00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7603F6E-4FD7-B7DE-0E4D-B00802CB4D66}"/>
              </a:ext>
            </a:extLst>
          </p:cNvPr>
          <p:cNvSpPr txBox="1"/>
          <p:nvPr/>
        </p:nvSpPr>
        <p:spPr>
          <a:xfrm>
            <a:off x="2606040" y="2770632"/>
            <a:ext cx="3749039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2A3644"/>
                </a:solidFill>
                <a:latin typeface="Aptos"/>
              </a:rPr>
              <a:t>Public records + report context</a:t>
            </a:r>
          </a:p>
        </p:txBody>
      </p:sp>
      <p:sp>
        <p:nvSpPr>
          <p:cNvPr id="9" name="Rounded Rectangle 10">
            <a:extLst>
              <a:ext uri="{FF2B5EF4-FFF2-40B4-BE49-F238E27FC236}">
                <a16:creationId xmlns:a16="http://schemas.microsoft.com/office/drawing/2014/main" id="{7DF4B790-1C2A-C7B1-FC1C-4BED2A65EF07}"/>
              </a:ext>
            </a:extLst>
          </p:cNvPr>
          <p:cNvSpPr/>
          <p:nvPr/>
        </p:nvSpPr>
        <p:spPr>
          <a:xfrm>
            <a:off x="777240" y="3447288"/>
            <a:ext cx="1417320" cy="50292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D9409CD-A7A2-25BA-00B7-9633B4E1BD83}"/>
              </a:ext>
            </a:extLst>
          </p:cNvPr>
          <p:cNvSpPr txBox="1"/>
          <p:nvPr/>
        </p:nvSpPr>
        <p:spPr>
          <a:xfrm>
            <a:off x="896112" y="3593592"/>
            <a:ext cx="1170432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900" b="1" i="0">
                <a:solidFill>
                  <a:srgbClr val="2A3644"/>
                </a:solidFill>
                <a:latin typeface="Aptos"/>
              </a:rPr>
              <a:t>Factors</a:t>
            </a:r>
          </a:p>
        </p:txBody>
      </p:sp>
      <p:cxnSp>
        <p:nvCxnSpPr>
          <p:cNvPr id="11" name="Connector 12">
            <a:extLst>
              <a:ext uri="{FF2B5EF4-FFF2-40B4-BE49-F238E27FC236}">
                <a16:creationId xmlns:a16="http://schemas.microsoft.com/office/drawing/2014/main" id="{BAF8E413-0766-0FCF-17D1-87B6E8D0B205}"/>
              </a:ext>
            </a:extLst>
          </p:cNvPr>
          <p:cNvCxnSpPr/>
          <p:nvPr/>
        </p:nvCxnSpPr>
        <p:spPr>
          <a:xfrm>
            <a:off x="2240280" y="3694176"/>
            <a:ext cx="274320" cy="0"/>
          </a:xfrm>
          <a:prstGeom prst="line">
            <a:avLst/>
          </a:prstGeom>
          <a:ln w="15240">
            <a:solidFill>
              <a:srgbClr val="00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BB62077-73B5-AC99-F1D2-7516EFE29C46}"/>
              </a:ext>
            </a:extLst>
          </p:cNvPr>
          <p:cNvSpPr txBox="1"/>
          <p:nvPr/>
        </p:nvSpPr>
        <p:spPr>
          <a:xfrm>
            <a:off x="2606040" y="3520440"/>
            <a:ext cx="3749039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2A3644"/>
                </a:solidFill>
                <a:latin typeface="Aptos"/>
              </a:rPr>
              <a:t>Severity • Vulnerability • Infrastructure Gap • Evidence Coverage</a:t>
            </a:r>
          </a:p>
        </p:txBody>
      </p:sp>
      <p:sp>
        <p:nvSpPr>
          <p:cNvPr id="13" name="Rounded Rectangle 14">
            <a:extLst>
              <a:ext uri="{FF2B5EF4-FFF2-40B4-BE49-F238E27FC236}">
                <a16:creationId xmlns:a16="http://schemas.microsoft.com/office/drawing/2014/main" id="{BDB2B03F-22B2-8109-6405-4A3EF31BD814}"/>
              </a:ext>
            </a:extLst>
          </p:cNvPr>
          <p:cNvSpPr/>
          <p:nvPr/>
        </p:nvSpPr>
        <p:spPr>
          <a:xfrm>
            <a:off x="777240" y="4197096"/>
            <a:ext cx="1417320" cy="50292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6C457D3-F8E5-AD52-F4CD-D9B466B53418}"/>
              </a:ext>
            </a:extLst>
          </p:cNvPr>
          <p:cNvSpPr txBox="1"/>
          <p:nvPr/>
        </p:nvSpPr>
        <p:spPr>
          <a:xfrm>
            <a:off x="896112" y="4343400"/>
            <a:ext cx="1170432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900" b="1" i="0">
                <a:solidFill>
                  <a:srgbClr val="2A3644"/>
                </a:solidFill>
                <a:latin typeface="Aptos"/>
              </a:rPr>
              <a:t>Scoring</a:t>
            </a:r>
          </a:p>
        </p:txBody>
      </p:sp>
      <p:cxnSp>
        <p:nvCxnSpPr>
          <p:cNvPr id="15" name="Connector 16">
            <a:extLst>
              <a:ext uri="{FF2B5EF4-FFF2-40B4-BE49-F238E27FC236}">
                <a16:creationId xmlns:a16="http://schemas.microsoft.com/office/drawing/2014/main" id="{F2CE1433-C29B-C8AF-3F89-21B33BB06175}"/>
              </a:ext>
            </a:extLst>
          </p:cNvPr>
          <p:cNvCxnSpPr/>
          <p:nvPr/>
        </p:nvCxnSpPr>
        <p:spPr>
          <a:xfrm>
            <a:off x="2240280" y="4443983"/>
            <a:ext cx="274320" cy="0"/>
          </a:xfrm>
          <a:prstGeom prst="line">
            <a:avLst/>
          </a:prstGeom>
          <a:ln w="15240">
            <a:solidFill>
              <a:srgbClr val="00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264F7486-7977-9910-7B6D-8F0184476E27}"/>
              </a:ext>
            </a:extLst>
          </p:cNvPr>
          <p:cNvSpPr txBox="1"/>
          <p:nvPr/>
        </p:nvSpPr>
        <p:spPr>
          <a:xfrm>
            <a:off x="2606040" y="4270248"/>
            <a:ext cx="3749039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2A3644"/>
                </a:solidFill>
                <a:latin typeface="Aptos"/>
              </a:rPr>
              <a:t>Configurable deterministic rules</a:t>
            </a:r>
          </a:p>
        </p:txBody>
      </p:sp>
      <p:sp>
        <p:nvSpPr>
          <p:cNvPr id="17" name="Rounded Rectangle 18">
            <a:extLst>
              <a:ext uri="{FF2B5EF4-FFF2-40B4-BE49-F238E27FC236}">
                <a16:creationId xmlns:a16="http://schemas.microsoft.com/office/drawing/2014/main" id="{A0874362-EF50-29BE-121A-C2C938BC5514}"/>
              </a:ext>
            </a:extLst>
          </p:cNvPr>
          <p:cNvSpPr/>
          <p:nvPr/>
        </p:nvSpPr>
        <p:spPr>
          <a:xfrm>
            <a:off x="777240" y="4946904"/>
            <a:ext cx="1417320" cy="50292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8258D15-F4C2-5043-8C51-1D6456957645}"/>
              </a:ext>
            </a:extLst>
          </p:cNvPr>
          <p:cNvSpPr txBox="1"/>
          <p:nvPr/>
        </p:nvSpPr>
        <p:spPr>
          <a:xfrm>
            <a:off x="896112" y="5093208"/>
            <a:ext cx="1170432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900" b="1" i="0">
                <a:solidFill>
                  <a:srgbClr val="2A3644"/>
                </a:solidFill>
                <a:latin typeface="Aptos"/>
              </a:rPr>
              <a:t>Output</a:t>
            </a:r>
          </a:p>
        </p:txBody>
      </p:sp>
      <p:cxnSp>
        <p:nvCxnSpPr>
          <p:cNvPr id="19" name="Connector 20">
            <a:extLst>
              <a:ext uri="{FF2B5EF4-FFF2-40B4-BE49-F238E27FC236}">
                <a16:creationId xmlns:a16="http://schemas.microsoft.com/office/drawing/2014/main" id="{EC97A074-CE7E-421F-D182-AD83B5EEAAFB}"/>
              </a:ext>
            </a:extLst>
          </p:cNvPr>
          <p:cNvCxnSpPr/>
          <p:nvPr/>
        </p:nvCxnSpPr>
        <p:spPr>
          <a:xfrm>
            <a:off x="2240280" y="5193792"/>
            <a:ext cx="274320" cy="0"/>
          </a:xfrm>
          <a:prstGeom prst="line">
            <a:avLst/>
          </a:prstGeom>
          <a:ln w="15240">
            <a:solidFill>
              <a:srgbClr val="00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9B067145-6F5F-6C57-30C6-FEF2D329C72E}"/>
              </a:ext>
            </a:extLst>
          </p:cNvPr>
          <p:cNvSpPr txBox="1"/>
          <p:nvPr/>
        </p:nvSpPr>
        <p:spPr>
          <a:xfrm>
            <a:off x="2606040" y="5020056"/>
            <a:ext cx="3749039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2A3644"/>
                </a:solidFill>
                <a:latin typeface="Aptos"/>
              </a:rPr>
              <a:t>Priority signal + explanation + missing information</a:t>
            </a:r>
          </a:p>
        </p:txBody>
      </p:sp>
      <p:sp>
        <p:nvSpPr>
          <p:cNvPr id="21" name="Rounded Rectangle 22">
            <a:extLst>
              <a:ext uri="{FF2B5EF4-FFF2-40B4-BE49-F238E27FC236}">
                <a16:creationId xmlns:a16="http://schemas.microsoft.com/office/drawing/2014/main" id="{9A0D7227-6009-32A7-510A-9376D93F733E}"/>
              </a:ext>
            </a:extLst>
          </p:cNvPr>
          <p:cNvSpPr/>
          <p:nvPr/>
        </p:nvSpPr>
        <p:spPr>
          <a:xfrm>
            <a:off x="7150608" y="1874519"/>
            <a:ext cx="4507992" cy="41605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0160">
            <a:solidFill>
              <a:srgbClr val="EF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3">
            <a:extLst>
              <a:ext uri="{FF2B5EF4-FFF2-40B4-BE49-F238E27FC236}">
                <a16:creationId xmlns:a16="http://schemas.microsoft.com/office/drawing/2014/main" id="{5D2262FE-92DE-9CEF-0ECC-812E7A562E7B}"/>
              </a:ext>
            </a:extLst>
          </p:cNvPr>
          <p:cNvSpPr/>
          <p:nvPr/>
        </p:nvSpPr>
        <p:spPr>
          <a:xfrm>
            <a:off x="7452360" y="2148840"/>
            <a:ext cx="1965960" cy="274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7177278-5222-B93B-0679-D151AC77F6FA}"/>
              </a:ext>
            </a:extLst>
          </p:cNvPr>
          <p:cNvSpPr txBox="1"/>
          <p:nvPr/>
        </p:nvSpPr>
        <p:spPr>
          <a:xfrm>
            <a:off x="7507224" y="2189988"/>
            <a:ext cx="1856231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850" b="1" i="0">
                <a:solidFill>
                  <a:srgbClr val="2A3644"/>
                </a:solidFill>
                <a:latin typeface="Aptos"/>
              </a:rPr>
              <a:t>PROPOSED / CONFIGURABLE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EB3F290-4DF4-7059-1F2D-90A34CAFFF80}"/>
              </a:ext>
            </a:extLst>
          </p:cNvPr>
          <p:cNvSpPr txBox="1"/>
          <p:nvPr/>
        </p:nvSpPr>
        <p:spPr>
          <a:xfrm>
            <a:off x="7452360" y="2651760"/>
            <a:ext cx="310896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2A3644"/>
                </a:solidFill>
                <a:latin typeface="Aptos"/>
              </a:rPr>
              <a:t>Example factor weights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3ED7340-29B0-94F4-A686-54E011FF0AA9}"/>
              </a:ext>
            </a:extLst>
          </p:cNvPr>
          <p:cNvSpPr txBox="1"/>
          <p:nvPr/>
        </p:nvSpPr>
        <p:spPr>
          <a:xfrm>
            <a:off x="7479792" y="3182112"/>
            <a:ext cx="2286000" cy="2011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2A3644"/>
                </a:solidFill>
                <a:latin typeface="Aptos"/>
              </a:rPr>
              <a:t>Severity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443BB81-A749-D430-C1D5-C5E5109C05DC}"/>
              </a:ext>
            </a:extLst>
          </p:cNvPr>
          <p:cNvSpPr txBox="1"/>
          <p:nvPr/>
        </p:nvSpPr>
        <p:spPr>
          <a:xfrm>
            <a:off x="10607040" y="3182112"/>
            <a:ext cx="594360" cy="2011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950" b="1" i="0">
                <a:solidFill>
                  <a:srgbClr val="2A3644"/>
                </a:solidFill>
                <a:latin typeface="Aptos"/>
              </a:rPr>
              <a:t>30%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7706067-FFF9-1FE7-BD56-726682C4CD28}"/>
              </a:ext>
            </a:extLst>
          </p:cNvPr>
          <p:cNvSpPr txBox="1"/>
          <p:nvPr/>
        </p:nvSpPr>
        <p:spPr>
          <a:xfrm>
            <a:off x="7479792" y="3657600"/>
            <a:ext cx="2286000" cy="2011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2A3644"/>
                </a:solidFill>
                <a:latin typeface="Aptos"/>
              </a:rPr>
              <a:t>Vulnerability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76408E-38C8-E1D9-5CFB-2F3189A5554E}"/>
              </a:ext>
            </a:extLst>
          </p:cNvPr>
          <p:cNvSpPr txBox="1"/>
          <p:nvPr/>
        </p:nvSpPr>
        <p:spPr>
          <a:xfrm>
            <a:off x="10607040" y="3657600"/>
            <a:ext cx="594360" cy="2011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950" b="1" i="0">
                <a:solidFill>
                  <a:srgbClr val="2A3644"/>
                </a:solidFill>
                <a:latin typeface="Aptos"/>
              </a:rPr>
              <a:t>30%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8649CB6-FE7D-A66C-4DC1-2CE0C07D8561}"/>
              </a:ext>
            </a:extLst>
          </p:cNvPr>
          <p:cNvSpPr txBox="1"/>
          <p:nvPr/>
        </p:nvSpPr>
        <p:spPr>
          <a:xfrm>
            <a:off x="7479792" y="4133087"/>
            <a:ext cx="2286000" cy="2011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2A3644"/>
                </a:solidFill>
                <a:latin typeface="Aptos"/>
              </a:rPr>
              <a:t>Infrastructure Gap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CEFD34E-4868-3C37-12B4-8E1746AA92F4}"/>
              </a:ext>
            </a:extLst>
          </p:cNvPr>
          <p:cNvSpPr txBox="1"/>
          <p:nvPr/>
        </p:nvSpPr>
        <p:spPr>
          <a:xfrm>
            <a:off x="10607040" y="4133087"/>
            <a:ext cx="594360" cy="2011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950" b="1" i="0">
                <a:solidFill>
                  <a:srgbClr val="2A3644"/>
                </a:solidFill>
                <a:latin typeface="Aptos"/>
              </a:rPr>
              <a:t>25%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CA425CD-A0CD-7DA1-9D1E-A419A8DC62D4}"/>
              </a:ext>
            </a:extLst>
          </p:cNvPr>
          <p:cNvSpPr txBox="1"/>
          <p:nvPr/>
        </p:nvSpPr>
        <p:spPr>
          <a:xfrm>
            <a:off x="7479792" y="4608576"/>
            <a:ext cx="2286000" cy="2011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2A3644"/>
                </a:solidFill>
                <a:latin typeface="Aptos"/>
              </a:rPr>
              <a:t>Evidence Coverage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04A8972-38A7-645D-1003-6DBAB0693FA7}"/>
              </a:ext>
            </a:extLst>
          </p:cNvPr>
          <p:cNvSpPr txBox="1"/>
          <p:nvPr/>
        </p:nvSpPr>
        <p:spPr>
          <a:xfrm>
            <a:off x="10607040" y="4608576"/>
            <a:ext cx="594360" cy="2011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950" b="1" i="0">
                <a:solidFill>
                  <a:srgbClr val="2A3644"/>
                </a:solidFill>
                <a:latin typeface="Aptos"/>
              </a:rPr>
              <a:t>15%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52AC338-0297-9349-9A31-65BCBBC68188}"/>
              </a:ext>
            </a:extLst>
          </p:cNvPr>
          <p:cNvSpPr txBox="1"/>
          <p:nvPr/>
        </p:nvSpPr>
        <p:spPr>
          <a:xfrm>
            <a:off x="7452360" y="5257800"/>
            <a:ext cx="347472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1" i="0">
                <a:solidFill>
                  <a:srgbClr val="2A3644"/>
                </a:solidFill>
                <a:latin typeface="Aptos"/>
              </a:rPr>
              <a:t>Not an official government formula.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47487E8-1228-4336-A90A-FF53B1B9EA82}"/>
              </a:ext>
            </a:extLst>
          </p:cNvPr>
          <p:cNvSpPr txBox="1"/>
          <p:nvPr/>
        </p:nvSpPr>
        <p:spPr>
          <a:xfrm>
            <a:off x="7452360" y="5559552"/>
            <a:ext cx="379476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2A3644"/>
                </a:solidFill>
                <a:latin typeface="Aptos"/>
              </a:rPr>
              <a:t>Missing information stays missing — it is never silently assumed.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EAE5E0C-4625-B966-10E6-85E449CACFDD}"/>
              </a:ext>
            </a:extLst>
          </p:cNvPr>
          <p:cNvSpPr txBox="1"/>
          <p:nvPr/>
        </p:nvSpPr>
        <p:spPr>
          <a:xfrm>
            <a:off x="502920" y="658368"/>
            <a:ext cx="11064240" cy="6400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800" b="1" i="0" dirty="0">
                <a:solidFill>
                  <a:srgbClr val="2A3644"/>
                </a:solidFill>
                <a:latin typeface="Aptos"/>
              </a:rPr>
              <a:t>AI Explains. Rules Calculate.</a:t>
            </a:r>
          </a:p>
        </p:txBody>
      </p:sp>
    </p:spTree>
    <p:extLst>
      <p:ext uri="{BB962C8B-B14F-4D97-AF65-F5344CB8AC3E}">
        <p14:creationId xmlns:p14="http://schemas.microsoft.com/office/powerpoint/2010/main" val="20547954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0CDE9E-DBC7-B4F0-42FE-595457A087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E6EC513-2011-BBAE-2564-9A82D05CB79B}"/>
              </a:ext>
            </a:extLst>
          </p:cNvPr>
          <p:cNvSpPr txBox="1"/>
          <p:nvPr/>
        </p:nvSpPr>
        <p:spPr>
          <a:xfrm>
            <a:off x="502920" y="658368"/>
            <a:ext cx="11064240" cy="6400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2A3644"/>
                </a:solidFill>
                <a:latin typeface="Aptos"/>
              </a:rPr>
              <a:t>Built as a Full-Stack AI Web Application.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C4A8BB-C50E-190E-A41F-C8B501CEFBF0}"/>
              </a:ext>
            </a:extLst>
          </p:cNvPr>
          <p:cNvSpPr txBox="1"/>
          <p:nvPr/>
        </p:nvSpPr>
        <p:spPr>
          <a:xfrm>
            <a:off x="530352" y="1307592"/>
            <a:ext cx="1078992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50" b="0" i="0">
                <a:solidFill>
                  <a:srgbClr val="2A3644"/>
                </a:solidFill>
                <a:latin typeface="Aptos"/>
              </a:rPr>
              <a:t>The current frontend structure is designed to evolve into a backend-connected, dynamic platform.</a:t>
            </a:r>
          </a:p>
        </p:txBody>
      </p:sp>
      <p:sp>
        <p:nvSpPr>
          <p:cNvPr id="7" name="Rounded Rectangle 4">
            <a:extLst>
              <a:ext uri="{FF2B5EF4-FFF2-40B4-BE49-F238E27FC236}">
                <a16:creationId xmlns:a16="http://schemas.microsoft.com/office/drawing/2014/main" id="{11D1B1FA-81DA-17E0-2D14-039719E6F64D}"/>
              </a:ext>
            </a:extLst>
          </p:cNvPr>
          <p:cNvSpPr/>
          <p:nvPr/>
        </p:nvSpPr>
        <p:spPr>
          <a:xfrm>
            <a:off x="685800" y="1828800"/>
            <a:ext cx="1874519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08B0BE-7955-FF1E-DD76-A4F7AE25403F}"/>
              </a:ext>
            </a:extLst>
          </p:cNvPr>
          <p:cNvSpPr txBox="1"/>
          <p:nvPr/>
        </p:nvSpPr>
        <p:spPr>
          <a:xfrm>
            <a:off x="804672" y="1965960"/>
            <a:ext cx="1627632" cy="20621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2A3644"/>
                </a:solidFill>
                <a:latin typeface="Aptos"/>
              </a:rPr>
              <a:t>FRONTEND</a:t>
            </a:r>
          </a:p>
        </p:txBody>
      </p:sp>
      <p:sp>
        <p:nvSpPr>
          <p:cNvPr id="11" name="Rounded Rectangle 6">
            <a:extLst>
              <a:ext uri="{FF2B5EF4-FFF2-40B4-BE49-F238E27FC236}">
                <a16:creationId xmlns:a16="http://schemas.microsoft.com/office/drawing/2014/main" id="{7752B8B9-DD7B-EB1E-90A9-A0C8650D1F78}"/>
              </a:ext>
            </a:extLst>
          </p:cNvPr>
          <p:cNvSpPr/>
          <p:nvPr/>
        </p:nvSpPr>
        <p:spPr>
          <a:xfrm>
            <a:off x="2743200" y="1828800"/>
            <a:ext cx="85039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93EB53-F88E-E757-1D97-F8AB0E03712C}"/>
              </a:ext>
            </a:extLst>
          </p:cNvPr>
          <p:cNvSpPr txBox="1"/>
          <p:nvPr/>
        </p:nvSpPr>
        <p:spPr>
          <a:xfrm>
            <a:off x="2971800" y="1947672"/>
            <a:ext cx="8001000" cy="221599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2A3644"/>
                </a:solidFill>
                <a:latin typeface="Aptos"/>
              </a:rPr>
              <a:t>React • Vite • TypeScript • Responsive UI • Voice input</a:t>
            </a:r>
          </a:p>
        </p:txBody>
      </p:sp>
      <p:sp>
        <p:nvSpPr>
          <p:cNvPr id="15" name="Rounded Rectangle 8">
            <a:extLst>
              <a:ext uri="{FF2B5EF4-FFF2-40B4-BE49-F238E27FC236}">
                <a16:creationId xmlns:a16="http://schemas.microsoft.com/office/drawing/2014/main" id="{E7BCB012-9ECD-51BD-D0D5-B8D4FB18A5BE}"/>
              </a:ext>
            </a:extLst>
          </p:cNvPr>
          <p:cNvSpPr/>
          <p:nvPr/>
        </p:nvSpPr>
        <p:spPr>
          <a:xfrm>
            <a:off x="685800" y="2487168"/>
            <a:ext cx="1874519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A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8DA6E04-2472-7B28-0564-FAF50F2222C3}"/>
              </a:ext>
            </a:extLst>
          </p:cNvPr>
          <p:cNvSpPr txBox="1"/>
          <p:nvPr/>
        </p:nvSpPr>
        <p:spPr>
          <a:xfrm>
            <a:off x="804672" y="2624327"/>
            <a:ext cx="1627632" cy="20621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2A3644"/>
                </a:solidFill>
                <a:latin typeface="Aptos"/>
              </a:rPr>
              <a:t>BACKEND</a:t>
            </a:r>
          </a:p>
        </p:txBody>
      </p:sp>
      <p:sp>
        <p:nvSpPr>
          <p:cNvPr id="19" name="Rounded Rectangle 10">
            <a:extLst>
              <a:ext uri="{FF2B5EF4-FFF2-40B4-BE49-F238E27FC236}">
                <a16:creationId xmlns:a16="http://schemas.microsoft.com/office/drawing/2014/main" id="{8C649DAE-2571-27FD-97C8-FF2ABECD352B}"/>
              </a:ext>
            </a:extLst>
          </p:cNvPr>
          <p:cNvSpPr/>
          <p:nvPr/>
        </p:nvSpPr>
        <p:spPr>
          <a:xfrm>
            <a:off x="2743200" y="2487168"/>
            <a:ext cx="85039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AE32392-1165-EA23-ABFB-5E30ACACDC0B}"/>
              </a:ext>
            </a:extLst>
          </p:cNvPr>
          <p:cNvSpPr txBox="1"/>
          <p:nvPr/>
        </p:nvSpPr>
        <p:spPr>
          <a:xfrm>
            <a:off x="2971800" y="2606039"/>
            <a:ext cx="8001000" cy="221599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2A3644"/>
                </a:solidFill>
                <a:latin typeface="Aptos"/>
              </a:rPr>
              <a:t>Python • FastAPI • Authentication • Reports • Evidence • Analytics</a:t>
            </a:r>
          </a:p>
        </p:txBody>
      </p:sp>
      <p:sp>
        <p:nvSpPr>
          <p:cNvPr id="23" name="Rounded Rectangle 12">
            <a:extLst>
              <a:ext uri="{FF2B5EF4-FFF2-40B4-BE49-F238E27FC236}">
                <a16:creationId xmlns:a16="http://schemas.microsoft.com/office/drawing/2014/main" id="{096A1F2F-4E26-2C66-6B73-12853AA738E0}"/>
              </a:ext>
            </a:extLst>
          </p:cNvPr>
          <p:cNvSpPr/>
          <p:nvPr/>
        </p:nvSpPr>
        <p:spPr>
          <a:xfrm>
            <a:off x="685800" y="3145536"/>
            <a:ext cx="1874519" cy="475488"/>
          </a:xfrm>
          <a:prstGeom prst="roundRect">
            <a:avLst>
              <a:gd name="adj" fmla="val 8000"/>
            </a:avLst>
          </a:prstGeom>
          <a:solidFill>
            <a:srgbClr val="006A61"/>
          </a:solidFill>
          <a:ln w="10160">
            <a:solidFill>
              <a:srgbClr val="006A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77C3605-9ECE-C903-49A8-E190507E4E03}"/>
              </a:ext>
            </a:extLst>
          </p:cNvPr>
          <p:cNvSpPr txBox="1"/>
          <p:nvPr/>
        </p:nvSpPr>
        <p:spPr>
          <a:xfrm>
            <a:off x="804672" y="3282696"/>
            <a:ext cx="1627632" cy="20621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2A3644"/>
                </a:solidFill>
                <a:latin typeface="Aptos"/>
              </a:rPr>
              <a:t>AI</a:t>
            </a:r>
          </a:p>
        </p:txBody>
      </p:sp>
      <p:sp>
        <p:nvSpPr>
          <p:cNvPr id="27" name="Rounded Rectangle 14">
            <a:extLst>
              <a:ext uri="{FF2B5EF4-FFF2-40B4-BE49-F238E27FC236}">
                <a16:creationId xmlns:a16="http://schemas.microsoft.com/office/drawing/2014/main" id="{330552C7-8D35-501F-B8F8-6FB42755D199}"/>
              </a:ext>
            </a:extLst>
          </p:cNvPr>
          <p:cNvSpPr/>
          <p:nvPr/>
        </p:nvSpPr>
        <p:spPr>
          <a:xfrm>
            <a:off x="2743200" y="3145536"/>
            <a:ext cx="85039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F530E0A-5409-B412-4053-D2CD904A4AE5}"/>
              </a:ext>
            </a:extLst>
          </p:cNvPr>
          <p:cNvSpPr txBox="1"/>
          <p:nvPr/>
        </p:nvSpPr>
        <p:spPr>
          <a:xfrm>
            <a:off x="2971800" y="3264408"/>
            <a:ext cx="8001000" cy="221599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2A3644"/>
                </a:solidFill>
                <a:latin typeface="Aptos"/>
              </a:rPr>
              <a:t>Google Gemini • Structured extraction • RAG analysis</a:t>
            </a:r>
          </a:p>
        </p:txBody>
      </p:sp>
      <p:sp>
        <p:nvSpPr>
          <p:cNvPr id="31" name="Rounded Rectangle 16">
            <a:extLst>
              <a:ext uri="{FF2B5EF4-FFF2-40B4-BE49-F238E27FC236}">
                <a16:creationId xmlns:a16="http://schemas.microsoft.com/office/drawing/2014/main" id="{9E82B441-7217-48B8-5CBC-F186AEF718C2}"/>
              </a:ext>
            </a:extLst>
          </p:cNvPr>
          <p:cNvSpPr/>
          <p:nvPr/>
        </p:nvSpPr>
        <p:spPr>
          <a:xfrm>
            <a:off x="685800" y="3803904"/>
            <a:ext cx="1874519" cy="475488"/>
          </a:xfrm>
          <a:prstGeom prst="roundRect">
            <a:avLst>
              <a:gd name="adj" fmla="val 8000"/>
            </a:avLst>
          </a:prstGeom>
          <a:solidFill>
            <a:srgbClr val="006A61"/>
          </a:solidFill>
          <a:ln w="10160">
            <a:solidFill>
              <a:srgbClr val="006A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4A31B36-5B5D-1035-BEF1-A6A85F989252}"/>
              </a:ext>
            </a:extLst>
          </p:cNvPr>
          <p:cNvSpPr txBox="1"/>
          <p:nvPr/>
        </p:nvSpPr>
        <p:spPr>
          <a:xfrm>
            <a:off x="804672" y="3941064"/>
            <a:ext cx="1627632" cy="20621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2A3644"/>
                </a:solidFill>
                <a:latin typeface="Aptos"/>
              </a:rPr>
              <a:t>RETRIEVAL</a:t>
            </a:r>
          </a:p>
        </p:txBody>
      </p:sp>
      <p:sp>
        <p:nvSpPr>
          <p:cNvPr id="35" name="Rounded Rectangle 18">
            <a:extLst>
              <a:ext uri="{FF2B5EF4-FFF2-40B4-BE49-F238E27FC236}">
                <a16:creationId xmlns:a16="http://schemas.microsoft.com/office/drawing/2014/main" id="{472ABC9B-04C9-8FFB-74E1-E364C19DE1C6}"/>
              </a:ext>
            </a:extLst>
          </p:cNvPr>
          <p:cNvSpPr/>
          <p:nvPr/>
        </p:nvSpPr>
        <p:spPr>
          <a:xfrm>
            <a:off x="2743200" y="3803904"/>
            <a:ext cx="85039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5305C73-7137-4BED-92C5-9C610863EEFC}"/>
              </a:ext>
            </a:extLst>
          </p:cNvPr>
          <p:cNvSpPr txBox="1"/>
          <p:nvPr/>
        </p:nvSpPr>
        <p:spPr>
          <a:xfrm>
            <a:off x="2971800" y="3922776"/>
            <a:ext cx="8001000" cy="221599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2A3644"/>
                </a:solidFill>
                <a:latin typeface="Aptos"/>
              </a:rPr>
              <a:t>Sentence Transformers • FAISS • Hybrid metadata search</a:t>
            </a:r>
          </a:p>
        </p:txBody>
      </p:sp>
      <p:sp>
        <p:nvSpPr>
          <p:cNvPr id="39" name="Rounded Rectangle 20">
            <a:extLst>
              <a:ext uri="{FF2B5EF4-FFF2-40B4-BE49-F238E27FC236}">
                <a16:creationId xmlns:a16="http://schemas.microsoft.com/office/drawing/2014/main" id="{66AC0CA2-6782-71F9-E111-4BF4583DE1AD}"/>
              </a:ext>
            </a:extLst>
          </p:cNvPr>
          <p:cNvSpPr/>
          <p:nvPr/>
        </p:nvSpPr>
        <p:spPr>
          <a:xfrm>
            <a:off x="685800" y="4462272"/>
            <a:ext cx="1874519" cy="475488"/>
          </a:xfrm>
          <a:prstGeom prst="roundRect">
            <a:avLst>
              <a:gd name="adj" fmla="val 8000"/>
            </a:avLst>
          </a:prstGeom>
          <a:solidFill>
            <a:srgbClr val="3068E6"/>
          </a:solidFill>
          <a:ln w="10160">
            <a:solidFill>
              <a:srgbClr val="306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F2BD4FC-C7A5-B00F-BB23-A39E277F41A2}"/>
              </a:ext>
            </a:extLst>
          </p:cNvPr>
          <p:cNvSpPr txBox="1"/>
          <p:nvPr/>
        </p:nvSpPr>
        <p:spPr>
          <a:xfrm>
            <a:off x="804672" y="4599432"/>
            <a:ext cx="1627632" cy="20621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2A3644"/>
                </a:solidFill>
                <a:latin typeface="Aptos"/>
              </a:rPr>
              <a:t>DATA</a:t>
            </a:r>
          </a:p>
        </p:txBody>
      </p:sp>
      <p:sp>
        <p:nvSpPr>
          <p:cNvPr id="43" name="Rounded Rectangle 22">
            <a:extLst>
              <a:ext uri="{FF2B5EF4-FFF2-40B4-BE49-F238E27FC236}">
                <a16:creationId xmlns:a16="http://schemas.microsoft.com/office/drawing/2014/main" id="{F3371DCC-C047-C9E0-A844-6A6F04A17816}"/>
              </a:ext>
            </a:extLst>
          </p:cNvPr>
          <p:cNvSpPr/>
          <p:nvPr/>
        </p:nvSpPr>
        <p:spPr>
          <a:xfrm>
            <a:off x="2743200" y="4462272"/>
            <a:ext cx="85039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48E4208-EE9D-855D-3300-30B35E81D0AF}"/>
              </a:ext>
            </a:extLst>
          </p:cNvPr>
          <p:cNvSpPr txBox="1"/>
          <p:nvPr/>
        </p:nvSpPr>
        <p:spPr>
          <a:xfrm>
            <a:off x="2971800" y="4581144"/>
            <a:ext cx="8001000" cy="221599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2A3644"/>
                </a:solidFill>
                <a:latin typeface="Aptos"/>
              </a:rPr>
              <a:t>SQLite / PostgreSQL-compatible design • Reports • Evidence • Datasets • Audit logs</a:t>
            </a:r>
          </a:p>
        </p:txBody>
      </p:sp>
      <p:sp>
        <p:nvSpPr>
          <p:cNvPr id="47" name="Rounded Rectangle 24">
            <a:extLst>
              <a:ext uri="{FF2B5EF4-FFF2-40B4-BE49-F238E27FC236}">
                <a16:creationId xmlns:a16="http://schemas.microsoft.com/office/drawing/2014/main" id="{F37422FD-6304-CFC6-DF71-3CB61752B1CC}"/>
              </a:ext>
            </a:extLst>
          </p:cNvPr>
          <p:cNvSpPr/>
          <p:nvPr/>
        </p:nvSpPr>
        <p:spPr>
          <a:xfrm>
            <a:off x="685800" y="5120640"/>
            <a:ext cx="1874519" cy="475488"/>
          </a:xfrm>
          <a:prstGeom prst="roundRect">
            <a:avLst>
              <a:gd name="adj" fmla="val 8000"/>
            </a:avLst>
          </a:prstGeom>
          <a:solidFill>
            <a:srgbClr val="3068E6"/>
          </a:solidFill>
          <a:ln w="10160">
            <a:solidFill>
              <a:srgbClr val="306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B74341E-1230-D872-9629-8BD1C573B269}"/>
              </a:ext>
            </a:extLst>
          </p:cNvPr>
          <p:cNvSpPr txBox="1"/>
          <p:nvPr/>
        </p:nvSpPr>
        <p:spPr>
          <a:xfrm>
            <a:off x="804672" y="5257800"/>
            <a:ext cx="1627632" cy="20621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2A3644"/>
                </a:solidFill>
                <a:latin typeface="Aptos"/>
              </a:rPr>
              <a:t>PUBLIC DATA</a:t>
            </a:r>
          </a:p>
        </p:txBody>
      </p:sp>
      <p:sp>
        <p:nvSpPr>
          <p:cNvPr id="51" name="Rounded Rectangle 26">
            <a:extLst>
              <a:ext uri="{FF2B5EF4-FFF2-40B4-BE49-F238E27FC236}">
                <a16:creationId xmlns:a16="http://schemas.microsoft.com/office/drawing/2014/main" id="{9B04D702-B2CB-5266-CDCB-F2D64E39816D}"/>
              </a:ext>
            </a:extLst>
          </p:cNvPr>
          <p:cNvSpPr/>
          <p:nvPr/>
        </p:nvSpPr>
        <p:spPr>
          <a:xfrm>
            <a:off x="2743200" y="5120640"/>
            <a:ext cx="85039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D9237A3-E444-BB9D-A9D2-55BBAAF84BF5}"/>
              </a:ext>
            </a:extLst>
          </p:cNvPr>
          <p:cNvSpPr txBox="1"/>
          <p:nvPr/>
        </p:nvSpPr>
        <p:spPr>
          <a:xfrm>
            <a:off x="2971800" y="5239512"/>
            <a:ext cx="8001000" cy="221599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2A3644"/>
                </a:solidFill>
                <a:latin typeface="Aptos"/>
              </a:rPr>
              <a:t>Open government / verified public datasets with provenance</a:t>
            </a:r>
          </a:p>
        </p:txBody>
      </p:sp>
    </p:spTree>
    <p:extLst>
      <p:ext uri="{BB962C8B-B14F-4D97-AF65-F5344CB8AC3E}">
        <p14:creationId xmlns:p14="http://schemas.microsoft.com/office/powerpoint/2010/main" val="13933137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9" y="457200"/>
            <a:ext cx="11734506" cy="1599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kern="0" spc="63" dirty="0">
                <a:solidFill>
                  <a:srgbClr val="155EEF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DEPLOYMENT ROADMAP &amp; FEASIBILITY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189" y="696516"/>
            <a:ext cx="11277318" cy="4576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3400" b="1" kern="0" spc="-51" dirty="0">
                <a:solidFill>
                  <a:srgbClr val="0B1F3A"/>
                </a:solidFill>
                <a:latin typeface="Archivo Bold" pitchFamily="34" charset="0"/>
                <a:ea typeface="Archivo Bold" pitchFamily="34" charset="-122"/>
                <a:cs typeface="Archivo Bold" pitchFamily="34" charset="-120"/>
              </a:rPr>
              <a:t>From Prototype to Civic Infrastructure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189" y="1395512"/>
            <a:ext cx="2819329" cy="38100"/>
          </a:xfrm>
          <a:prstGeom prst="roundRect">
            <a:avLst>
              <a:gd name="adj" fmla="val 49999"/>
            </a:avLst>
          </a:prstGeom>
          <a:solidFill>
            <a:srgbClr val="155EEF"/>
          </a:solidFill>
          <a:ln/>
        </p:spPr>
      </p:sp>
      <p:sp>
        <p:nvSpPr>
          <p:cNvPr id="5" name="Shape 3"/>
          <p:cNvSpPr/>
          <p:nvPr/>
        </p:nvSpPr>
        <p:spPr>
          <a:xfrm>
            <a:off x="457189" y="1655862"/>
            <a:ext cx="2705032" cy="1316831"/>
          </a:xfrm>
          <a:prstGeom prst="roundRect">
            <a:avLst>
              <a:gd name="adj" fmla="val 868"/>
            </a:avLst>
          </a:prstGeom>
          <a:solidFill>
            <a:srgbClr val="F2EEEE"/>
          </a:solidFill>
          <a:ln/>
        </p:spPr>
      </p:sp>
      <p:sp>
        <p:nvSpPr>
          <p:cNvPr id="6" name="Text 4"/>
          <p:cNvSpPr/>
          <p:nvPr/>
        </p:nvSpPr>
        <p:spPr>
          <a:xfrm>
            <a:off x="609585" y="1782862"/>
            <a:ext cx="2552636" cy="1599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kern="0" spc="63" dirty="0">
                <a:solidFill>
                  <a:srgbClr val="155EEF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TECHNICAL FEASIBILITY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09585" y="2057102"/>
            <a:ext cx="2400240" cy="5914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150" kern="0" spc="11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Built on proven stacks: FastAPI, React, Gemini, FAISS, and SQL engines.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14617" y="1655862"/>
            <a:ext cx="2705032" cy="1316831"/>
          </a:xfrm>
          <a:prstGeom prst="roundRect">
            <a:avLst>
              <a:gd name="adj" fmla="val 868"/>
            </a:avLst>
          </a:prstGeom>
          <a:solidFill>
            <a:srgbClr val="F2EEEE"/>
          </a:solidFill>
          <a:ln/>
        </p:spPr>
      </p:sp>
      <p:sp>
        <p:nvSpPr>
          <p:cNvPr id="9" name="Text 7"/>
          <p:cNvSpPr/>
          <p:nvPr/>
        </p:nvSpPr>
        <p:spPr>
          <a:xfrm>
            <a:off x="3467013" y="1782862"/>
            <a:ext cx="2552636" cy="1599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kern="0" spc="63" dirty="0">
                <a:solidFill>
                  <a:srgbClr val="155EEF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DATA COMPATIBILITY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467013" y="2057102"/>
            <a:ext cx="2400240" cy="5914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150" kern="0" spc="11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Standardized ingesters for Open Government Data, census feeds, and municipal registries.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172046" y="1655862"/>
            <a:ext cx="2705032" cy="1316831"/>
          </a:xfrm>
          <a:prstGeom prst="roundRect">
            <a:avLst>
              <a:gd name="adj" fmla="val 868"/>
            </a:avLst>
          </a:prstGeom>
          <a:solidFill>
            <a:srgbClr val="F2EEEE"/>
          </a:solidFill>
          <a:ln/>
        </p:spPr>
      </p:sp>
      <p:sp>
        <p:nvSpPr>
          <p:cNvPr id="12" name="Text 10"/>
          <p:cNvSpPr/>
          <p:nvPr/>
        </p:nvSpPr>
        <p:spPr>
          <a:xfrm>
            <a:off x="6324442" y="1782862"/>
            <a:ext cx="2552636" cy="1599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kern="0" spc="63" dirty="0">
                <a:solidFill>
                  <a:srgbClr val="155EEF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SCALABLE DESIGN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324442" y="2057102"/>
            <a:ext cx="2400240" cy="7885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150" kern="0" spc="11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Seamless migration from local embedded FAISS/SQLite to PostgreSQL and distributed vector DBs.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029474" y="1655862"/>
            <a:ext cx="2705032" cy="1316831"/>
          </a:xfrm>
          <a:prstGeom prst="roundRect">
            <a:avLst>
              <a:gd name="adj" fmla="val 868"/>
            </a:avLst>
          </a:prstGeom>
          <a:solidFill>
            <a:srgbClr val="F2EEEE"/>
          </a:solidFill>
          <a:ln/>
        </p:spPr>
      </p:sp>
      <p:sp>
        <p:nvSpPr>
          <p:cNvPr id="15" name="Text 13"/>
          <p:cNvSpPr/>
          <p:nvPr/>
        </p:nvSpPr>
        <p:spPr>
          <a:xfrm>
            <a:off x="9181870" y="1782862"/>
            <a:ext cx="2552636" cy="1599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kern="0" spc="63" dirty="0">
                <a:solidFill>
                  <a:srgbClr val="155EEF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MODULAR LAYERS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9181870" y="2057102"/>
            <a:ext cx="2400240" cy="5914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150" kern="0" spc="11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NLP, vector retrieval, scoring formulas, and UI dashboards update independently.</a:t>
            </a:r>
            <a:endParaRPr lang="en-US" sz="1150" dirty="0"/>
          </a:p>
        </p:txBody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89" y="3682107"/>
            <a:ext cx="3640543" cy="142875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634984" y="4393307"/>
            <a:ext cx="3284951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kern="0" spc="-24" dirty="0">
                <a:solidFill>
                  <a:srgbClr val="0B1F3A"/>
                </a:solidFill>
                <a:latin typeface="Archivo Bold" pitchFamily="34" charset="0"/>
                <a:ea typeface="Archivo Bold" pitchFamily="34" charset="-122"/>
                <a:cs typeface="Archivo Bold" pitchFamily="34" charset="-120"/>
              </a:rPr>
              <a:t>Current Prototype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984" y="4753967"/>
            <a:ext cx="3284951" cy="3942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150" kern="0" spc="11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Multilingual voice/text input, FAISS vector retrieval, Gemini RAG, deterministic scoring.</a:t>
            </a:r>
            <a:endParaRPr lang="en-US" sz="1150" dirty="0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5527" y="3415407"/>
            <a:ext cx="3640543" cy="142875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4453322" y="4126607"/>
            <a:ext cx="3284951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kern="0" spc="-24" dirty="0">
                <a:solidFill>
                  <a:srgbClr val="0B1F3A"/>
                </a:solidFill>
                <a:latin typeface="Archivo Bold" pitchFamily="34" charset="0"/>
                <a:ea typeface="Archivo Bold" pitchFamily="34" charset="-122"/>
                <a:cs typeface="Archivo Bold" pitchFamily="34" charset="-120"/>
              </a:rPr>
              <a:t>Next Scope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4453322" y="4487267"/>
            <a:ext cx="3284951" cy="5914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150" kern="0" spc="11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Broadened public data ingesters, GIS geospatial boundaries, external ticketing integration.</a:t>
            </a:r>
            <a:endParaRPr lang="en-US" sz="1150" dirty="0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3865" y="3148707"/>
            <a:ext cx="3640543" cy="142875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8271660" y="3859907"/>
            <a:ext cx="3284951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kern="0" spc="-24" dirty="0">
                <a:solidFill>
                  <a:srgbClr val="0B1F3A"/>
                </a:solidFill>
                <a:latin typeface="Archivo Bold" pitchFamily="34" charset="0"/>
                <a:ea typeface="Archivo Bold" pitchFamily="34" charset="-122"/>
                <a:cs typeface="Archivo Bold" pitchFamily="34" charset="-120"/>
              </a:rPr>
              <a:t>Future Infrastructure</a:t>
            </a:r>
            <a:endParaRPr lang="en-US" sz="1600" dirty="0"/>
          </a:p>
        </p:txBody>
      </p:sp>
      <p:sp>
        <p:nvSpPr>
          <p:cNvPr id="25" name="Text 20"/>
          <p:cNvSpPr/>
          <p:nvPr/>
        </p:nvSpPr>
        <p:spPr>
          <a:xfrm>
            <a:off x="8271660" y="4220567"/>
            <a:ext cx="3284951" cy="3942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150" kern="0" spc="11" dirty="0">
                <a:solidFill>
                  <a:srgbClr val="0B1F3A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Cross-city trend analytics, macro infrastructure gap forecasting, predictive civic planning.</a:t>
            </a:r>
            <a:endParaRPr lang="en-US" sz="1150" dirty="0"/>
          </a:p>
        </p:txBody>
      </p:sp>
      <p:sp>
        <p:nvSpPr>
          <p:cNvPr id="26" name="Shape 21"/>
          <p:cNvSpPr/>
          <p:nvPr/>
        </p:nvSpPr>
        <p:spPr>
          <a:xfrm>
            <a:off x="457189" y="5502077"/>
            <a:ext cx="11277318" cy="898823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27" name="Text 22"/>
          <p:cNvSpPr/>
          <p:nvPr/>
        </p:nvSpPr>
        <p:spPr>
          <a:xfrm>
            <a:off x="685783" y="5654477"/>
            <a:ext cx="10820129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See the Problem. Find the Evidence. Understand the Context.</a:t>
            </a:r>
            <a:endParaRPr lang="en-US" sz="1600" dirty="0"/>
          </a:p>
        </p:txBody>
      </p:sp>
      <p:sp>
        <p:nvSpPr>
          <p:cNvPr id="28" name="Text 23"/>
          <p:cNvSpPr/>
          <p:nvPr/>
        </p:nvSpPr>
        <p:spPr>
          <a:xfrm>
            <a:off x="457189" y="6051352"/>
            <a:ext cx="11277318" cy="1971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1150" kern="0" spc="11" dirty="0">
                <a:solidFill>
                  <a:srgbClr val="FFFFFF"/>
                </a:solidFill>
                <a:latin typeface="IBM Plex Sans SemiBold" pitchFamily="34" charset="0"/>
                <a:ea typeface="IBM Plex Sans SemiBold" pitchFamily="34" charset="-122"/>
                <a:cs typeface="IBM Plex Sans SemiBold" pitchFamily="34" charset="-120"/>
              </a:rPr>
              <a:t>Citizen Voice + Public Data + AI = Evidence-Driven Civic Intelligence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4C3726F1-97FD-C442-7DD8-FA5BA4275873}"/>
              </a:ext>
            </a:extLst>
          </p:cNvPr>
          <p:cNvSpPr/>
          <p:nvPr/>
        </p:nvSpPr>
        <p:spPr>
          <a:xfrm>
            <a:off x="1927546" y="845806"/>
            <a:ext cx="8336907" cy="49018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8000"/>
              </a:lnSpc>
              <a:buNone/>
            </a:pPr>
            <a:r>
              <a:rPr lang="en-US" sz="20000" b="1" kern="0" spc="-51" dirty="0">
                <a:solidFill>
                  <a:srgbClr val="0B1F3A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Archivo Bold" pitchFamily="34" charset="-120"/>
              </a:rPr>
              <a:t>Thank</a:t>
            </a:r>
          </a:p>
          <a:p>
            <a:pPr marL="0" indent="0" algn="ctr">
              <a:lnSpc>
                <a:spcPct val="88000"/>
              </a:lnSpc>
              <a:buNone/>
            </a:pPr>
            <a:r>
              <a:rPr lang="en-US" sz="20000" b="1" kern="0" spc="-51" dirty="0">
                <a:solidFill>
                  <a:srgbClr val="0B1F3A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Archivo Bold" pitchFamily="34" charset="-120"/>
              </a:rPr>
              <a:t> You</a:t>
            </a:r>
            <a:endParaRPr lang="en-US" sz="20000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40490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1668</Words>
  <Application>Microsoft Office PowerPoint</Application>
  <PresentationFormat>Widescreen</PresentationFormat>
  <Paragraphs>352</Paragraphs>
  <Slides>17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7" baseType="lpstr">
      <vt:lpstr>Aptos</vt:lpstr>
      <vt:lpstr>Arial</vt:lpstr>
      <vt:lpstr>IBM Plex Sans SemiBold</vt:lpstr>
      <vt:lpstr>Segoe UI Black</vt:lpstr>
      <vt:lpstr>Archivo Bold</vt:lpstr>
      <vt:lpstr>IBM Plex Sans</vt:lpstr>
      <vt:lpstr>Archivo Black</vt:lpstr>
      <vt:lpstr>Comic Sans MS</vt:lpstr>
      <vt:lpstr>IBM Plex Sans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Rudra Patel</cp:lastModifiedBy>
  <cp:revision>2</cp:revision>
  <dcterms:created xsi:type="dcterms:W3CDTF">2026-09-30T14:56:51Z</dcterms:created>
  <dcterms:modified xsi:type="dcterms:W3CDTF">2026-09-30T15:44:08Z</dcterms:modified>
</cp:coreProperties>
</file>